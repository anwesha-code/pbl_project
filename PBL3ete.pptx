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  <p:sldId id="268" r:id="rId15"/>
  </p:sldIdLst>
  <p:sldSz cx="18288000" cy="10287000"/>
  <p:notesSz cx="6858000" cy="9144000"/>
  <p:embeddedFontLst>
    <p:embeddedFont>
      <p:font typeface="Cormorant Garamond" panose="020B0604020202020204" charset="0"/>
      <p:regular r:id="rId16"/>
    </p:embeddedFont>
    <p:embeddedFont>
      <p:font typeface="Cormorant Garamond Bold" panose="020B0604020202020204" charset="0"/>
      <p:regular r:id="rId17"/>
    </p:embeddedFont>
    <p:embeddedFont>
      <p:font typeface="Cormorant Garamond Bold Italics" panose="020B0604020202020204" charset="0"/>
      <p:regular r:id="rId18"/>
    </p:embeddedFont>
    <p:embeddedFont>
      <p:font typeface="Glacial Indifference" panose="020B0604020202020204" charset="0"/>
      <p:regular r:id="rId19"/>
    </p:embeddedFont>
    <p:embeddedFont>
      <p:font typeface="Glacial Indifference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32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wesha Singh" userId="219c64dab1718394" providerId="LiveId" clId="{5A5FC853-4F7B-4DAE-B78C-4B4841C6F6EF}"/>
    <pc:docChg chg="modSld">
      <pc:chgData name="Anwesha Singh" userId="219c64dab1718394" providerId="LiveId" clId="{5A5FC853-4F7B-4DAE-B78C-4B4841C6F6EF}" dt="2025-10-14T09:32:17.954" v="106" actId="20577"/>
      <pc:docMkLst>
        <pc:docMk/>
      </pc:docMkLst>
      <pc:sldChg chg="modSp mod">
        <pc:chgData name="Anwesha Singh" userId="219c64dab1718394" providerId="LiveId" clId="{5A5FC853-4F7B-4DAE-B78C-4B4841C6F6EF}" dt="2025-10-14T09:29:48.191" v="56" actId="20577"/>
        <pc:sldMkLst>
          <pc:docMk/>
          <pc:sldMk cId="0" sldId="256"/>
        </pc:sldMkLst>
        <pc:spChg chg="mod">
          <ac:chgData name="Anwesha Singh" userId="219c64dab1718394" providerId="LiveId" clId="{5A5FC853-4F7B-4DAE-B78C-4B4841C6F6EF}" dt="2025-10-14T09:29:48.191" v="56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Anwesha Singh" userId="219c64dab1718394" providerId="LiveId" clId="{5A5FC853-4F7B-4DAE-B78C-4B4841C6F6EF}" dt="2025-10-14T07:13:31.334" v="7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Anwesha Singh" userId="219c64dab1718394" providerId="LiveId" clId="{5A5FC853-4F7B-4DAE-B78C-4B4841C6F6EF}" dt="2025-10-14T07:13:24.250" v="3" actId="14100"/>
          <ac:spMkLst>
            <pc:docMk/>
            <pc:sldMk cId="0" sldId="256"/>
            <ac:spMk id="10" creationId="{00000000-0000-0000-0000-000000000000}"/>
          </ac:spMkLst>
        </pc:spChg>
        <pc:spChg chg="mod">
          <ac:chgData name="Anwesha Singh" userId="219c64dab1718394" providerId="LiveId" clId="{5A5FC853-4F7B-4DAE-B78C-4B4841C6F6EF}" dt="2025-10-14T07:13:27.561" v="4" actId="14100"/>
          <ac:spMkLst>
            <pc:docMk/>
            <pc:sldMk cId="0" sldId="256"/>
            <ac:spMk id="11" creationId="{00000000-0000-0000-0000-000000000000}"/>
          </ac:spMkLst>
        </pc:spChg>
      </pc:sldChg>
      <pc:sldChg chg="modSp mod">
        <pc:chgData name="Anwesha Singh" userId="219c64dab1718394" providerId="LiveId" clId="{5A5FC853-4F7B-4DAE-B78C-4B4841C6F6EF}" dt="2025-10-14T07:13:00.852" v="2" actId="1076"/>
        <pc:sldMkLst>
          <pc:docMk/>
          <pc:sldMk cId="0" sldId="257"/>
        </pc:sldMkLst>
        <pc:spChg chg="mod">
          <ac:chgData name="Anwesha Singh" userId="219c64dab1718394" providerId="LiveId" clId="{5A5FC853-4F7B-4DAE-B78C-4B4841C6F6EF}" dt="2025-10-14T07:13:00.852" v="2" actId="1076"/>
          <ac:spMkLst>
            <pc:docMk/>
            <pc:sldMk cId="0" sldId="257"/>
            <ac:spMk id="6" creationId="{00000000-0000-0000-0000-000000000000}"/>
          </ac:spMkLst>
        </pc:spChg>
        <pc:grpChg chg="mod">
          <ac:chgData name="Anwesha Singh" userId="219c64dab1718394" providerId="LiveId" clId="{5A5FC853-4F7B-4DAE-B78C-4B4841C6F6EF}" dt="2025-10-14T07:12:55.287" v="1" actId="1076"/>
          <ac:grpSpMkLst>
            <pc:docMk/>
            <pc:sldMk cId="0" sldId="257"/>
            <ac:grpSpMk id="2" creationId="{00000000-0000-0000-0000-000000000000}"/>
          </ac:grpSpMkLst>
        </pc:grpChg>
      </pc:sldChg>
      <pc:sldChg chg="modSp mod">
        <pc:chgData name="Anwesha Singh" userId="219c64dab1718394" providerId="LiveId" clId="{5A5FC853-4F7B-4DAE-B78C-4B4841C6F6EF}" dt="2025-10-14T09:30:51.331" v="57" actId="20577"/>
        <pc:sldMkLst>
          <pc:docMk/>
          <pc:sldMk cId="0" sldId="261"/>
        </pc:sldMkLst>
        <pc:spChg chg="mod">
          <ac:chgData name="Anwesha Singh" userId="219c64dab1718394" providerId="LiveId" clId="{5A5FC853-4F7B-4DAE-B78C-4B4841C6F6EF}" dt="2025-10-14T09:30:51.331" v="57" actId="20577"/>
          <ac:spMkLst>
            <pc:docMk/>
            <pc:sldMk cId="0" sldId="261"/>
            <ac:spMk id="5" creationId="{00000000-0000-0000-0000-000000000000}"/>
          </ac:spMkLst>
        </pc:spChg>
      </pc:sldChg>
      <pc:sldChg chg="modSp mod">
        <pc:chgData name="Anwesha Singh" userId="219c64dab1718394" providerId="LiveId" clId="{5A5FC853-4F7B-4DAE-B78C-4B4841C6F6EF}" dt="2025-10-14T09:31:28.009" v="58" actId="20577"/>
        <pc:sldMkLst>
          <pc:docMk/>
          <pc:sldMk cId="0" sldId="262"/>
        </pc:sldMkLst>
        <pc:spChg chg="mod">
          <ac:chgData name="Anwesha Singh" userId="219c64dab1718394" providerId="LiveId" clId="{5A5FC853-4F7B-4DAE-B78C-4B4841C6F6EF}" dt="2025-10-14T09:31:28.009" v="58" actId="20577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Anwesha Singh" userId="219c64dab1718394" providerId="LiveId" clId="{5A5FC853-4F7B-4DAE-B78C-4B4841C6F6EF}" dt="2025-10-14T09:32:17.954" v="106" actId="20577"/>
        <pc:sldMkLst>
          <pc:docMk/>
          <pc:sldMk cId="0" sldId="265"/>
        </pc:sldMkLst>
        <pc:spChg chg="mod">
          <ac:chgData name="Anwesha Singh" userId="219c64dab1718394" providerId="LiveId" clId="{5A5FC853-4F7B-4DAE-B78C-4B4841C6F6EF}" dt="2025-10-14T09:32:17.954" v="106" actId="20577"/>
          <ac:spMkLst>
            <pc:docMk/>
            <pc:sldMk cId="0" sldId="265"/>
            <ac:spMk id="7" creationId="{00000000-0000-0000-0000-000000000000}"/>
          </ac:spMkLst>
        </pc:spChg>
      </pc:sldChg>
      <pc:sldChg chg="modSp mod">
        <pc:chgData name="Anwesha Singh" userId="219c64dab1718394" providerId="LiveId" clId="{5A5FC853-4F7B-4DAE-B78C-4B4841C6F6EF}" dt="2025-10-14T07:30:43.787" v="33" actId="20577"/>
        <pc:sldMkLst>
          <pc:docMk/>
          <pc:sldMk cId="0" sldId="266"/>
        </pc:sldMkLst>
        <pc:spChg chg="mod">
          <ac:chgData name="Anwesha Singh" userId="219c64dab1718394" providerId="LiveId" clId="{5A5FC853-4F7B-4DAE-B78C-4B4841C6F6EF}" dt="2025-10-14T07:30:43.787" v="33" actId="20577"/>
          <ac:spMkLst>
            <pc:docMk/>
            <pc:sldMk cId="0" sldId="266"/>
            <ac:spMk id="1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 flipH="1">
            <a:off x="13809790" y="0"/>
            <a:ext cx="4478210" cy="3525572"/>
          </a:xfrm>
          <a:custGeom>
            <a:avLst/>
            <a:gdLst/>
            <a:ahLst/>
            <a:cxnLst/>
            <a:rect l="l" t="t" r="r" b="b"/>
            <a:pathLst>
              <a:path w="4478210" h="3525572">
                <a:moveTo>
                  <a:pt x="4478210" y="0"/>
                </a:moveTo>
                <a:lnTo>
                  <a:pt x="0" y="0"/>
                </a:lnTo>
                <a:lnTo>
                  <a:pt x="0" y="3525572"/>
                </a:lnTo>
                <a:lnTo>
                  <a:pt x="4478210" y="3525572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/>
          <p:cNvSpPr/>
          <p:nvPr/>
        </p:nvSpPr>
        <p:spPr>
          <a:xfrm flipH="1">
            <a:off x="13809790" y="6225475"/>
            <a:ext cx="4478210" cy="4478210"/>
          </a:xfrm>
          <a:custGeom>
            <a:avLst/>
            <a:gdLst/>
            <a:ahLst/>
            <a:cxnLst/>
            <a:rect l="l" t="t" r="r" b="b"/>
            <a:pathLst>
              <a:path w="4478210" h="4478210">
                <a:moveTo>
                  <a:pt x="4478210" y="0"/>
                </a:moveTo>
                <a:lnTo>
                  <a:pt x="0" y="0"/>
                </a:lnTo>
                <a:lnTo>
                  <a:pt x="0" y="4478210"/>
                </a:lnTo>
                <a:lnTo>
                  <a:pt x="4478210" y="4478210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4200700" y="3971219"/>
            <a:ext cx="9886600" cy="12775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877"/>
              </a:lnSpc>
            </a:pPr>
            <a:r>
              <a:rPr lang="en-US" sz="4877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Carbon Emission Prediction for Data Centers Using Deep RNN </a:t>
            </a:r>
            <a:r>
              <a:rPr lang="en-US" sz="3200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(</a:t>
            </a:r>
            <a:r>
              <a:rPr lang="en-IN" sz="3200" b="1" i="1" dirty="0">
                <a:solidFill>
                  <a:srgbClr val="2D3880"/>
                </a:solidFill>
                <a:latin typeface="Cormorant Garamond Bold Italics"/>
              </a:rPr>
              <a:t>Optimised by Ninja OA</a:t>
            </a:r>
            <a:r>
              <a:rPr lang="en-US" sz="3200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)</a:t>
            </a:r>
          </a:p>
        </p:txBody>
      </p:sp>
      <p:sp>
        <p:nvSpPr>
          <p:cNvPr id="6" name="AutoShape 6"/>
          <p:cNvSpPr/>
          <p:nvPr/>
        </p:nvSpPr>
        <p:spPr>
          <a:xfrm flipV="1">
            <a:off x="228600" y="8407430"/>
            <a:ext cx="17259300" cy="0"/>
          </a:xfrm>
          <a:prstGeom prst="line">
            <a:avLst/>
          </a:prstGeom>
          <a:ln w="57150" cap="flat">
            <a:solidFill>
              <a:srgbClr val="2D388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Freeform 7"/>
          <p:cNvSpPr/>
          <p:nvPr/>
        </p:nvSpPr>
        <p:spPr>
          <a:xfrm>
            <a:off x="6477665" y="683586"/>
            <a:ext cx="5332670" cy="1559260"/>
          </a:xfrm>
          <a:custGeom>
            <a:avLst/>
            <a:gdLst/>
            <a:ahLst/>
            <a:cxnLst/>
            <a:rect l="l" t="t" r="r" b="b"/>
            <a:pathLst>
              <a:path w="5332670" h="1559260">
                <a:moveTo>
                  <a:pt x="0" y="0"/>
                </a:moveTo>
                <a:lnTo>
                  <a:pt x="5332670" y="0"/>
                </a:lnTo>
                <a:lnTo>
                  <a:pt x="5332670" y="1559260"/>
                </a:lnTo>
                <a:lnTo>
                  <a:pt x="0" y="15592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TextBox 8"/>
          <p:cNvSpPr txBox="1"/>
          <p:nvPr/>
        </p:nvSpPr>
        <p:spPr>
          <a:xfrm>
            <a:off x="1028700" y="8407430"/>
            <a:ext cx="1036809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November 2025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858521" y="2344994"/>
            <a:ext cx="10570958" cy="1471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</a:pPr>
            <a:r>
              <a:rPr lang="en-US" sz="2836" b="1" dirty="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School of Computer Science and Engineering</a:t>
            </a:r>
          </a:p>
          <a:p>
            <a:pPr algn="ctr">
              <a:lnSpc>
                <a:spcPts val="3971"/>
              </a:lnSpc>
            </a:pPr>
            <a:r>
              <a:rPr lang="en-US" sz="2836" b="1" dirty="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Department of Computer Science and Engineering</a:t>
            </a:r>
          </a:p>
          <a:p>
            <a:pPr algn="ctr">
              <a:lnSpc>
                <a:spcPts val="3971"/>
              </a:lnSpc>
              <a:spcBef>
                <a:spcPct val="0"/>
              </a:spcBef>
            </a:pPr>
            <a:endParaRPr lang="en-US" sz="2836" b="1" dirty="0">
              <a:solidFill>
                <a:srgbClr val="2D388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80557" y="6413145"/>
            <a:ext cx="3362321" cy="1577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7"/>
              </a:lnSpc>
            </a:pPr>
            <a:r>
              <a:rPr lang="en-US" sz="2998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Submitted by:</a:t>
            </a:r>
          </a:p>
          <a:p>
            <a:pPr algn="ctr">
              <a:lnSpc>
                <a:spcPts val="4197"/>
              </a:lnSpc>
            </a:pPr>
            <a:r>
              <a:rPr lang="en-US" sz="2998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Anwesha Singh</a:t>
            </a:r>
          </a:p>
          <a:p>
            <a:pPr algn="ctr">
              <a:lnSpc>
                <a:spcPts val="4197"/>
              </a:lnSpc>
              <a:spcBef>
                <a:spcPct val="0"/>
              </a:spcBef>
            </a:pPr>
            <a:r>
              <a:rPr lang="en-US" sz="2998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23FE10CSE00299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925164" y="6413145"/>
            <a:ext cx="4478209" cy="1028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6"/>
              </a:lnSpc>
            </a:pPr>
            <a:r>
              <a:rPr lang="en-US" sz="2997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Supervised by:</a:t>
            </a:r>
          </a:p>
          <a:p>
            <a:pPr algn="ctr">
              <a:lnSpc>
                <a:spcPts val="4196"/>
              </a:lnSpc>
              <a:spcBef>
                <a:spcPct val="0"/>
              </a:spcBef>
            </a:pPr>
            <a:r>
              <a:rPr lang="en-US" sz="2997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Dr Shishir Singh Chauhan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95962" y="11811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CBCBEB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74726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 dirty="0"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0"/>
            <a:ext cx="4722665" cy="1380896"/>
          </a:xfrm>
          <a:custGeom>
            <a:avLst/>
            <a:gdLst/>
            <a:ahLst/>
            <a:cxnLst/>
            <a:rect l="l" t="t" r="r" b="b"/>
            <a:pathLst>
              <a:path w="4722665" h="1380896">
                <a:moveTo>
                  <a:pt x="0" y="0"/>
                </a:moveTo>
                <a:lnTo>
                  <a:pt x="4722665" y="0"/>
                </a:lnTo>
                <a:lnTo>
                  <a:pt x="4722665" y="1380896"/>
                </a:lnTo>
                <a:lnTo>
                  <a:pt x="0" y="13808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TextBox 6"/>
          <p:cNvSpPr txBox="1"/>
          <p:nvPr/>
        </p:nvSpPr>
        <p:spPr>
          <a:xfrm>
            <a:off x="7634862" y="1714500"/>
            <a:ext cx="3018276" cy="1140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451"/>
              </a:lnSpc>
              <a:spcBef>
                <a:spcPct val="0"/>
              </a:spcBef>
            </a:pPr>
            <a:r>
              <a:rPr lang="en-US" sz="6751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Outline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06798" y="3095608"/>
            <a:ext cx="4860608" cy="5212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101" lvl="1" indent="-356050" algn="l">
              <a:lnSpc>
                <a:spcPts val="4617"/>
              </a:lnSpc>
              <a:buFont typeface="Arial"/>
              <a:buChar char="•"/>
            </a:pPr>
            <a:r>
              <a:rPr lang="en-US" sz="3298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Introduction</a:t>
            </a:r>
          </a:p>
          <a:p>
            <a:pPr marL="712101" lvl="1" indent="-356050" algn="l">
              <a:lnSpc>
                <a:spcPts val="4617"/>
              </a:lnSpc>
              <a:buFont typeface="Arial"/>
              <a:buChar char="•"/>
            </a:pPr>
            <a:r>
              <a:rPr lang="en-US" sz="3298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Literature Review</a:t>
            </a:r>
          </a:p>
          <a:p>
            <a:pPr marL="712101" lvl="1" indent="-356050" algn="l">
              <a:lnSpc>
                <a:spcPts val="4617"/>
              </a:lnSpc>
              <a:buFont typeface="Arial"/>
              <a:buChar char="•"/>
            </a:pPr>
            <a:r>
              <a:rPr lang="en-US" sz="3298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Problem Statement</a:t>
            </a:r>
          </a:p>
          <a:p>
            <a:pPr marL="712101" lvl="1" indent="-356050" algn="l">
              <a:lnSpc>
                <a:spcPts val="4617"/>
              </a:lnSpc>
              <a:buFont typeface="Arial"/>
              <a:buChar char="•"/>
            </a:pPr>
            <a:r>
              <a:rPr lang="en-US" sz="3298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Objectives</a:t>
            </a:r>
          </a:p>
          <a:p>
            <a:pPr marL="712101" lvl="1" indent="-356050" algn="l">
              <a:lnSpc>
                <a:spcPts val="4617"/>
              </a:lnSpc>
              <a:buFont typeface="Arial"/>
              <a:buChar char="•"/>
            </a:pPr>
            <a:r>
              <a:rPr lang="en-US" sz="3298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Proposed Methodology</a:t>
            </a:r>
          </a:p>
          <a:p>
            <a:pPr marL="712101" lvl="1" indent="-356050" algn="l">
              <a:lnSpc>
                <a:spcPts val="4617"/>
              </a:lnSpc>
              <a:buFont typeface="Arial"/>
              <a:buChar char="•"/>
            </a:pPr>
            <a:r>
              <a:rPr lang="en-US" sz="3298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Results and Analysis</a:t>
            </a:r>
          </a:p>
          <a:p>
            <a:pPr marL="712101" lvl="1" indent="-356050" algn="l">
              <a:lnSpc>
                <a:spcPts val="4617"/>
              </a:lnSpc>
              <a:buFont typeface="Arial"/>
              <a:buChar char="•"/>
            </a:pPr>
            <a:r>
              <a:rPr lang="en-US" sz="3298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Future Work</a:t>
            </a:r>
          </a:p>
          <a:p>
            <a:pPr marL="712101" lvl="1" indent="-356050" algn="l">
              <a:lnSpc>
                <a:spcPts val="4617"/>
              </a:lnSpc>
              <a:buFont typeface="Arial"/>
              <a:buChar char="•"/>
            </a:pPr>
            <a:r>
              <a:rPr lang="en-US" sz="3298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References</a:t>
            </a:r>
          </a:p>
          <a:p>
            <a:pPr algn="ctr">
              <a:lnSpc>
                <a:spcPts val="4617"/>
              </a:lnSpc>
              <a:spcBef>
                <a:spcPct val="0"/>
              </a:spcBef>
            </a:pPr>
            <a:endParaRPr lang="en-US" sz="3298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5796756"/>
            <a:ext cx="5703543" cy="4490244"/>
          </a:xfrm>
          <a:custGeom>
            <a:avLst/>
            <a:gdLst/>
            <a:ahLst/>
            <a:cxnLst/>
            <a:rect l="l" t="t" r="r" b="b"/>
            <a:pathLst>
              <a:path w="5703543" h="4490244">
                <a:moveTo>
                  <a:pt x="0" y="4490244"/>
                </a:moveTo>
                <a:lnTo>
                  <a:pt x="5703543" y="4490244"/>
                </a:lnTo>
                <a:lnTo>
                  <a:pt x="5703543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4587794" y="6483050"/>
            <a:ext cx="3700206" cy="3803950"/>
          </a:xfrm>
          <a:custGeom>
            <a:avLst/>
            <a:gdLst/>
            <a:ahLst/>
            <a:cxnLst/>
            <a:rect l="l" t="t" r="r" b="b"/>
            <a:pathLst>
              <a:path w="3700206" h="3803950">
                <a:moveTo>
                  <a:pt x="0" y="0"/>
                </a:moveTo>
                <a:lnTo>
                  <a:pt x="3700206" y="0"/>
                </a:lnTo>
                <a:lnTo>
                  <a:pt x="3700206" y="3803950"/>
                </a:lnTo>
                <a:lnTo>
                  <a:pt x="0" y="38039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4"/>
          <p:cNvSpPr txBox="1"/>
          <p:nvPr/>
        </p:nvSpPr>
        <p:spPr>
          <a:xfrm>
            <a:off x="2851772" y="348615"/>
            <a:ext cx="12715243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7200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712739" y="1508760"/>
            <a:ext cx="13725158" cy="8886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170" b="1" dirty="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Growing Digital Infrastructure</a:t>
            </a:r>
          </a:p>
          <a:p>
            <a:pPr algn="l">
              <a:lnSpc>
                <a:spcPts val="4439"/>
              </a:lnSpc>
            </a:pPr>
            <a:r>
              <a:rPr lang="en-US" sz="317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Data Centers are the backbone to modern digital economy. They support blooming technologies like  cloud computing, AI, IoT, and digital services.</a:t>
            </a:r>
          </a:p>
          <a:p>
            <a:pPr algn="l">
              <a:lnSpc>
                <a:spcPts val="4439"/>
              </a:lnSpc>
            </a:pPr>
            <a:r>
              <a:rPr lang="en-US" sz="317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India’s data center industry is expanding rapidly at compound annual growth rate (CAGR) of approximately 15%</a:t>
            </a:r>
          </a:p>
          <a:p>
            <a:pPr algn="l">
              <a:lnSpc>
                <a:spcPts val="4439"/>
              </a:lnSpc>
            </a:pPr>
            <a:r>
              <a:rPr lang="en-US" sz="3170" b="1" dirty="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Environmental Impact</a:t>
            </a:r>
          </a:p>
          <a:p>
            <a:pPr algn="l">
              <a:lnSpc>
                <a:spcPts val="4439"/>
              </a:lnSpc>
            </a:pPr>
            <a:r>
              <a:rPr lang="en-US" sz="317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Data centers consume 1-2% of global electricity.</a:t>
            </a:r>
          </a:p>
          <a:p>
            <a:pPr algn="l">
              <a:lnSpc>
                <a:spcPts val="4439"/>
              </a:lnSpc>
            </a:pPr>
            <a:r>
              <a:rPr lang="en-US" sz="317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Data centers are projected to reach 3.2% of global CO₂ emissions by the end of 2025.</a:t>
            </a:r>
          </a:p>
          <a:p>
            <a:pPr algn="l">
              <a:lnSpc>
                <a:spcPts val="4439"/>
              </a:lnSpc>
            </a:pPr>
            <a:r>
              <a:rPr lang="en-US" sz="317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environmental footprint of these centers is significantly contributing to Carbon dioxide emissions. </a:t>
            </a:r>
          </a:p>
          <a:p>
            <a:pPr algn="l">
              <a:lnSpc>
                <a:spcPts val="4439"/>
              </a:lnSpc>
            </a:pPr>
            <a:r>
              <a:rPr lang="en-US" sz="317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</a:t>
            </a:r>
          </a:p>
          <a:p>
            <a:pPr algn="l">
              <a:lnSpc>
                <a:spcPts val="4439"/>
              </a:lnSpc>
            </a:pPr>
            <a:endParaRPr lang="en-US" sz="3170" dirty="0">
              <a:solidFill>
                <a:srgbClr val="2D388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4439"/>
              </a:lnSpc>
            </a:pPr>
            <a:endParaRPr lang="en-US" sz="3170" dirty="0">
              <a:solidFill>
                <a:srgbClr val="2D388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9155"/>
              </a:lnSpc>
              <a:spcBef>
                <a:spcPct val="0"/>
              </a:spcBef>
            </a:pPr>
            <a:endParaRPr lang="en-US" sz="3170" dirty="0">
              <a:solidFill>
                <a:srgbClr val="2D388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5796756"/>
            <a:ext cx="5703543" cy="4490244"/>
          </a:xfrm>
          <a:custGeom>
            <a:avLst/>
            <a:gdLst/>
            <a:ahLst/>
            <a:cxnLst/>
            <a:rect l="l" t="t" r="r" b="b"/>
            <a:pathLst>
              <a:path w="5703543" h="4490244">
                <a:moveTo>
                  <a:pt x="0" y="4490244"/>
                </a:moveTo>
                <a:lnTo>
                  <a:pt x="5703543" y="4490244"/>
                </a:lnTo>
                <a:lnTo>
                  <a:pt x="5703543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4587794" y="6483050"/>
            <a:ext cx="3700206" cy="3803950"/>
          </a:xfrm>
          <a:custGeom>
            <a:avLst/>
            <a:gdLst/>
            <a:ahLst/>
            <a:cxnLst/>
            <a:rect l="l" t="t" r="r" b="b"/>
            <a:pathLst>
              <a:path w="3700206" h="3803950">
                <a:moveTo>
                  <a:pt x="0" y="0"/>
                </a:moveTo>
                <a:lnTo>
                  <a:pt x="3700206" y="0"/>
                </a:lnTo>
                <a:lnTo>
                  <a:pt x="3700206" y="3803950"/>
                </a:lnTo>
                <a:lnTo>
                  <a:pt x="0" y="38039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4"/>
          <p:cNvSpPr txBox="1"/>
          <p:nvPr/>
        </p:nvSpPr>
        <p:spPr>
          <a:xfrm>
            <a:off x="2851772" y="348615"/>
            <a:ext cx="12715243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7200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Introduction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51772" y="1508760"/>
            <a:ext cx="13725158" cy="9450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170" b="1" dirty="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Need for smart prediction system</a:t>
            </a:r>
          </a:p>
          <a:p>
            <a:pPr algn="l">
              <a:lnSpc>
                <a:spcPts val="4439"/>
              </a:lnSpc>
            </a:pPr>
            <a:r>
              <a:rPr lang="en-US" sz="317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complex nature of data center workloads demand real-time monitoring and prediction capabilities.</a:t>
            </a:r>
          </a:p>
          <a:p>
            <a:pPr algn="l">
              <a:lnSpc>
                <a:spcPts val="4439"/>
              </a:lnSpc>
            </a:pPr>
            <a:r>
              <a:rPr lang="en-US" sz="317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Proactive energy management strategies enables by accurate carbon emission forecasting.</a:t>
            </a:r>
          </a:p>
          <a:p>
            <a:pPr algn="l">
              <a:lnSpc>
                <a:spcPts val="4439"/>
              </a:lnSpc>
            </a:pPr>
            <a:r>
              <a:rPr lang="en-US" sz="3170" b="1" dirty="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Role of AI in Sustainability</a:t>
            </a:r>
          </a:p>
          <a:p>
            <a:pPr algn="l">
              <a:lnSpc>
                <a:spcPts val="4439"/>
              </a:lnSpc>
            </a:pPr>
            <a:r>
              <a:rPr lang="en-US" sz="317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AI, especially deep learning offers powerful tools for deciphering complex, non-linear patterns inherent in time-series sensor data from data centers.</a:t>
            </a:r>
          </a:p>
          <a:p>
            <a:pPr algn="l">
              <a:lnSpc>
                <a:spcPts val="4439"/>
              </a:lnSpc>
            </a:pPr>
            <a:r>
              <a:rPr lang="en-US" sz="317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Advanced DL-driven time-series forecasting facilitates timely and reliable predictions of carbon emissions.</a:t>
            </a:r>
          </a:p>
          <a:p>
            <a:pPr algn="l">
              <a:lnSpc>
                <a:spcPts val="4439"/>
              </a:lnSpc>
            </a:pPr>
            <a:endParaRPr lang="en-US" sz="3170" dirty="0">
              <a:solidFill>
                <a:srgbClr val="2D388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4439"/>
              </a:lnSpc>
            </a:pPr>
            <a:endParaRPr lang="en-US" sz="3170" dirty="0">
              <a:solidFill>
                <a:srgbClr val="2D388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4439"/>
              </a:lnSpc>
            </a:pPr>
            <a:endParaRPr lang="en-US" sz="3170" dirty="0">
              <a:solidFill>
                <a:srgbClr val="2D388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4439"/>
              </a:lnSpc>
            </a:pPr>
            <a:endParaRPr lang="en-US" sz="3170" dirty="0">
              <a:solidFill>
                <a:srgbClr val="2D388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4439"/>
              </a:lnSpc>
            </a:pPr>
            <a:endParaRPr lang="en-US" sz="3170" dirty="0">
              <a:solidFill>
                <a:srgbClr val="2D388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9155"/>
              </a:lnSpc>
              <a:spcBef>
                <a:spcPct val="0"/>
              </a:spcBef>
            </a:pPr>
            <a:endParaRPr lang="en-US" sz="3170" dirty="0">
              <a:solidFill>
                <a:srgbClr val="2D388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182390"/>
            <a:ext cx="7328478" cy="3104610"/>
          </a:xfrm>
          <a:custGeom>
            <a:avLst/>
            <a:gdLst/>
            <a:ahLst/>
            <a:cxnLst/>
            <a:rect l="l" t="t" r="r" b="b"/>
            <a:pathLst>
              <a:path w="7328478" h="3104610">
                <a:moveTo>
                  <a:pt x="0" y="0"/>
                </a:moveTo>
                <a:lnTo>
                  <a:pt x="7328478" y="0"/>
                </a:lnTo>
                <a:lnTo>
                  <a:pt x="7328478" y="3104610"/>
                </a:lnTo>
                <a:lnTo>
                  <a:pt x="0" y="3104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9622366" y="2665306"/>
            <a:ext cx="1039073" cy="878017"/>
          </a:xfrm>
          <a:custGeom>
            <a:avLst/>
            <a:gdLst/>
            <a:ahLst/>
            <a:cxnLst/>
            <a:rect l="l" t="t" r="r" b="b"/>
            <a:pathLst>
              <a:path w="1039073" h="878017">
                <a:moveTo>
                  <a:pt x="0" y="0"/>
                </a:moveTo>
                <a:lnTo>
                  <a:pt x="1039073" y="0"/>
                </a:lnTo>
                <a:lnTo>
                  <a:pt x="1039073" y="878017"/>
                </a:lnTo>
                <a:lnTo>
                  <a:pt x="0" y="8780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/>
          <p:cNvSpPr/>
          <p:nvPr/>
        </p:nvSpPr>
        <p:spPr>
          <a:xfrm>
            <a:off x="9622366" y="4728640"/>
            <a:ext cx="1080657" cy="1080657"/>
          </a:xfrm>
          <a:custGeom>
            <a:avLst/>
            <a:gdLst/>
            <a:ahLst/>
            <a:cxnLst/>
            <a:rect l="l" t="t" r="r" b="b"/>
            <a:pathLst>
              <a:path w="1080657" h="1080657">
                <a:moveTo>
                  <a:pt x="0" y="0"/>
                </a:moveTo>
                <a:lnTo>
                  <a:pt x="1080657" y="0"/>
                </a:lnTo>
                <a:lnTo>
                  <a:pt x="1080657" y="1080657"/>
                </a:lnTo>
                <a:lnTo>
                  <a:pt x="0" y="10806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731520" y="348615"/>
            <a:ext cx="7955327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80"/>
              </a:lnSpc>
              <a:spcBef>
                <a:spcPct val="0"/>
              </a:spcBef>
            </a:pPr>
            <a:r>
              <a:rPr lang="en-US" sz="7200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Problem Statement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6920" y="2482695"/>
            <a:ext cx="7978742" cy="443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 dirty="0">
                <a:solidFill>
                  <a:srgbClr val="2D3880"/>
                </a:solidFill>
                <a:latin typeface="Glacial Indifference"/>
              </a:rPr>
              <a:t>Conventional carbon footprint estimation methods are inaccurate and fail to capture dynamic, </a:t>
            </a:r>
            <a:r>
              <a:rPr lang="en-US" sz="2400" b="1" dirty="0">
                <a:solidFill>
                  <a:srgbClr val="2D3880"/>
                </a:solidFill>
                <a:latin typeface="Glacial Indifference"/>
              </a:rPr>
              <a:t>time-evolving power consumption </a:t>
            </a:r>
            <a:r>
              <a:rPr lang="en-US" sz="2400" dirty="0">
                <a:solidFill>
                  <a:srgbClr val="2D3880"/>
                </a:solidFill>
                <a:latin typeface="Glacial Indifference"/>
              </a:rPr>
              <a:t>patterns in data centers. Despite the availability of advanced deep learning architectures and optimization frameworks, accurate, real-time prediction of carbon emissions in data centers remains challenging because of high dimensional sensor data, complex temporal dynamics, and difficulty of </a:t>
            </a:r>
            <a:r>
              <a:rPr lang="en-US" sz="2400" b="1" dirty="0">
                <a:solidFill>
                  <a:srgbClr val="2D3880"/>
                </a:solidFill>
                <a:latin typeface="Glacial Indifference"/>
              </a:rPr>
              <a:t>hypermeter tuning</a:t>
            </a:r>
            <a:r>
              <a:rPr lang="en-US" sz="2400" dirty="0">
                <a:solidFill>
                  <a:srgbClr val="2D3880"/>
                </a:solidFill>
                <a:latin typeface="Glacial Indifference"/>
              </a:rPr>
              <a:t>. Manual hyperparameter tuning is inefficient and suboptimal. Hence, a real-time, scalable, and accurate predictive system is essential for optimizing energy use and minimizing carbon emissions in data centers.</a:t>
            </a:r>
            <a:endParaRPr lang="en-IN" sz="2400" dirty="0">
              <a:solidFill>
                <a:srgbClr val="2D3880"/>
              </a:solidFill>
              <a:latin typeface="Glacial Indifference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859662" y="2710441"/>
            <a:ext cx="5851279" cy="116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48"/>
              </a:lnSpc>
            </a:pPr>
            <a:r>
              <a:rPr lang="en-US" sz="1851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Developing an DL-driven predictive model to estimate and optimize carbon emissions in data centers using sensor data.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859662" y="2264525"/>
            <a:ext cx="6201416" cy="400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36"/>
              </a:lnSpc>
            </a:pPr>
            <a:r>
              <a:rPr lang="en-US" sz="1962" b="1" dirty="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Scope of the Study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859662" y="4823845"/>
            <a:ext cx="6201416" cy="1242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36"/>
              </a:lnSpc>
            </a:pPr>
            <a:r>
              <a:rPr lang="en-US" sz="1962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Address immediate need for sustainable energy management at rapidly growing data centers, supporting environmental and energy goals.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59662" y="4426506"/>
            <a:ext cx="6597861" cy="359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23"/>
              </a:lnSpc>
              <a:spcBef>
                <a:spcPct val="0"/>
              </a:spcBef>
            </a:pPr>
            <a:r>
              <a:rPr lang="en-US" sz="2088" b="1" dirty="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Relevance of the Study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144500" y="0"/>
            <a:ext cx="5143500" cy="5143500"/>
          </a:xfrm>
          <a:custGeom>
            <a:avLst/>
            <a:gdLst/>
            <a:ahLst/>
            <a:cxnLst/>
            <a:rect l="l" t="t" r="r" b="b"/>
            <a:pathLst>
              <a:path w="5143500" h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569398" y="355078"/>
            <a:ext cx="11672141" cy="2216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0"/>
              </a:lnSpc>
            </a:pPr>
            <a:r>
              <a:rPr lang="en-US" sz="7032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Literature Review</a:t>
            </a:r>
          </a:p>
          <a:p>
            <a:pPr marL="0" lvl="0" indent="0" algn="l">
              <a:lnSpc>
                <a:spcPts val="8790"/>
              </a:lnSpc>
            </a:pPr>
            <a:endParaRPr lang="en-US" sz="7032" b="1" i="1" dirty="0">
              <a:solidFill>
                <a:srgbClr val="2D3880"/>
              </a:solidFill>
              <a:latin typeface="Cormorant Garamond Bold Italics"/>
              <a:ea typeface="Cormorant Garamond Bold Italics"/>
              <a:cs typeface="Cormorant Garamond Bold Italics"/>
              <a:sym typeface="Cormorant Garamond Bold Itali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352008" y="3979175"/>
            <a:ext cx="7448908" cy="3547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26"/>
              </a:lnSpc>
            </a:pPr>
            <a:r>
              <a:rPr lang="en-US" sz="2947" b="1" dirty="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Similar Related Works</a:t>
            </a:r>
          </a:p>
          <a:p>
            <a:pPr marL="530357" lvl="1" indent="-265178" algn="l">
              <a:lnSpc>
                <a:spcPts val="3439"/>
              </a:lnSpc>
              <a:buFont typeface="Arial"/>
              <a:buChar char="•"/>
            </a:pPr>
            <a:r>
              <a:rPr lang="en-US" sz="2456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Ghorbal et al. (2025): DPRNN with NiOA for CO₂ prediction (R² = 0.9736)</a:t>
            </a:r>
          </a:p>
          <a:p>
            <a:pPr marL="530357" lvl="1" indent="-265178" algn="l">
              <a:lnSpc>
                <a:spcPts val="3439"/>
              </a:lnSpc>
              <a:buFont typeface="Arial"/>
              <a:buChar char="•"/>
            </a:pPr>
            <a:r>
              <a:rPr lang="en-IN" sz="2456" dirty="0">
                <a:solidFill>
                  <a:srgbClr val="2D3880"/>
                </a:solidFill>
                <a:latin typeface="Glacial Indifference"/>
              </a:rPr>
              <a:t>Yassen et al. (2025): NiOA for renewable energy forecasting</a:t>
            </a:r>
          </a:p>
          <a:p>
            <a:pPr marL="530357" lvl="1" indent="-265178" algn="l">
              <a:lnSpc>
                <a:spcPts val="3439"/>
              </a:lnSpc>
              <a:buFont typeface="Arial"/>
              <a:buChar char="•"/>
            </a:pPr>
            <a:r>
              <a:rPr lang="en-US" sz="2456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Google DeepMind (2016): Reinforcement learning for 40% cooling energy reduction</a:t>
            </a:r>
          </a:p>
          <a:p>
            <a:pPr algn="ctr">
              <a:lnSpc>
                <a:spcPts val="3439"/>
              </a:lnSpc>
              <a:spcBef>
                <a:spcPct val="0"/>
              </a:spcBef>
            </a:pPr>
            <a:r>
              <a:rPr lang="en-US" sz="2456" b="1" dirty="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6378" y="1463414"/>
            <a:ext cx="10855881" cy="2686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 dirty="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Technology Foundations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2D3880"/>
                </a:solidFill>
                <a:latin typeface="Glacial Indifference"/>
              </a:rPr>
              <a:t>Ninja Optimization Algorithm (NiOA): Metaheuristic inspired by tactical ninja behaviour for hyperparameter optimization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D3880"/>
                </a:solidFill>
                <a:latin typeface="Glacial Indifference"/>
                <a:sym typeface="Glacial Indifference"/>
              </a:rPr>
              <a:t>TensorFlow/Keras: Deep learning implementation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D3880"/>
                </a:solidFill>
                <a:latin typeface="Glacial Indifference"/>
                <a:sym typeface="Glacial Indifference"/>
              </a:rPr>
              <a:t>Time-series Analysis: Sequence modeling techniques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D3880"/>
                </a:solidFill>
                <a:latin typeface="Glacial Indifference"/>
              </a:rPr>
              <a:t>LSTM Networks: Long Short-Term Memory for temporal dependencies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dirty="0">
              <a:solidFill>
                <a:srgbClr val="2D388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0" y="4293292"/>
            <a:ext cx="10352008" cy="2584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 dirty="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Architectural Foundations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Stacked RNNs/LSTMs: Hierarchical temporal pattern capture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Bidirectional Processing: Forward and backward context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Batch Normalization and Dropout: Regularization techniques to stabilize training and reduce overfitting in deep recurrent networks. 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400" dirty="0">
              <a:solidFill>
                <a:srgbClr val="2D388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36378" y="7259477"/>
            <a:ext cx="10080070" cy="2317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 dirty="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Optimization Techniques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D3880"/>
                </a:solidFill>
                <a:latin typeface="Glacial Indifference"/>
              </a:rPr>
              <a:t>Automated Search: NiOA to discover optimal configurations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D3880"/>
                </a:solidFill>
                <a:latin typeface="Glacial Indifference"/>
              </a:rPr>
              <a:t>Adaptive Exploration-Exploitation: Balancing broad search with focused refinement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D3880"/>
                </a:solidFill>
                <a:latin typeface="Glacial Indifference"/>
              </a:rPr>
              <a:t>Real-time Constraints: Low-latency prediction requirements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400" dirty="0">
              <a:solidFill>
                <a:srgbClr val="2D388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1544300" y="23130"/>
            <a:ext cx="7328478" cy="3104610"/>
          </a:xfrm>
          <a:custGeom>
            <a:avLst/>
            <a:gdLst/>
            <a:ahLst/>
            <a:cxnLst/>
            <a:rect l="l" t="t" r="r" b="b"/>
            <a:pathLst>
              <a:path w="7328478" h="3104610">
                <a:moveTo>
                  <a:pt x="0" y="0"/>
                </a:moveTo>
                <a:lnTo>
                  <a:pt x="7328478" y="0"/>
                </a:lnTo>
                <a:lnTo>
                  <a:pt x="7328478" y="3104610"/>
                </a:lnTo>
                <a:lnTo>
                  <a:pt x="0" y="3104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731520" y="329565"/>
            <a:ext cx="8761329" cy="1356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101"/>
              </a:lnSpc>
              <a:spcBef>
                <a:spcPct val="0"/>
              </a:spcBef>
            </a:pPr>
            <a:r>
              <a:rPr lang="en-US" sz="7929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Objectives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25780" y="2200378"/>
            <a:ext cx="15339523" cy="6812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38" dirty="0">
                <a:solidFill>
                  <a:srgbClr val="2D3880"/>
                </a:solidFill>
                <a:latin typeface="Glacial Indifference"/>
              </a:rPr>
              <a:t>Preprocess, scale, and engineer features from multi-sensor data center datasets for time series forecasting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38" dirty="0">
                <a:solidFill>
                  <a:srgbClr val="2D3880"/>
                </a:solidFill>
                <a:latin typeface="Glacial Indifference"/>
              </a:rPr>
              <a:t>Design and implement a stacked, bidirectional Long Short-Term Memory recurrent neural network capable of capturing complex temporal dependencies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38" dirty="0">
                <a:solidFill>
                  <a:srgbClr val="2D3880"/>
                </a:solidFill>
                <a:latin typeface="Glacial Indifference"/>
              </a:rPr>
              <a:t>Implement automated hyperparameter optimization using Ninja Optimization Algorithm to eliminate manual human intervention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38" dirty="0">
                <a:solidFill>
                  <a:srgbClr val="2D3880"/>
                </a:solidFill>
                <a:latin typeface="Glacial Indifference"/>
              </a:rPr>
              <a:t>Evaluate the optimized model's performance against baseline approaches (Optuna) and analyze convergence behavior, generalization ability, and prediction accuracy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38" dirty="0">
                <a:solidFill>
                  <a:srgbClr val="2D3880"/>
                </a:solidFill>
                <a:latin typeface="Glacial Indifference"/>
              </a:rPr>
              <a:t>Interpret results, discuss implications for sustainable data center operations, and outline future directions</a:t>
            </a:r>
          </a:p>
          <a:p>
            <a:pPr marL="720733" lvl="1" indent="-360367" algn="l">
              <a:lnSpc>
                <a:spcPts val="4673"/>
              </a:lnSpc>
              <a:buFont typeface="Arial"/>
              <a:buChar char="•"/>
            </a:pPr>
            <a:endParaRPr lang="en-US" sz="3338" dirty="0">
              <a:solidFill>
                <a:srgbClr val="2D388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ctr">
              <a:lnSpc>
                <a:spcPts val="4673"/>
              </a:lnSpc>
              <a:spcBef>
                <a:spcPct val="0"/>
              </a:spcBef>
            </a:pPr>
            <a:endParaRPr lang="en-US" sz="3338" dirty="0">
              <a:solidFill>
                <a:srgbClr val="2D388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669574">
            <a:off x="15384780" y="-4572387"/>
            <a:ext cx="8513170" cy="8203229"/>
            <a:chOff x="0" y="0"/>
            <a:chExt cx="2242152" cy="21605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42152" cy="2160521"/>
            </a:xfrm>
            <a:custGeom>
              <a:avLst/>
              <a:gdLst/>
              <a:ahLst/>
              <a:cxnLst/>
              <a:rect l="l" t="t" r="r" b="b"/>
              <a:pathLst>
                <a:path w="2242152" h="2160521">
                  <a:moveTo>
                    <a:pt x="0" y="0"/>
                  </a:moveTo>
                  <a:lnTo>
                    <a:pt x="2242152" y="0"/>
                  </a:lnTo>
                  <a:lnTo>
                    <a:pt x="2242152" y="2160521"/>
                  </a:lnTo>
                  <a:lnTo>
                    <a:pt x="0" y="2160521"/>
                  </a:lnTo>
                  <a:close/>
                </a:path>
              </a:pathLst>
            </a:custGeom>
            <a:solidFill>
              <a:srgbClr val="CBCBEB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242152" cy="22081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 dirty="0"/>
            </a:p>
          </p:txBody>
        </p:sp>
      </p:grpSp>
      <p:sp>
        <p:nvSpPr>
          <p:cNvPr id="5" name="Freeform 5"/>
          <p:cNvSpPr/>
          <p:nvPr/>
        </p:nvSpPr>
        <p:spPr>
          <a:xfrm>
            <a:off x="15689879" y="0"/>
            <a:ext cx="2598121" cy="2598121"/>
          </a:xfrm>
          <a:custGeom>
            <a:avLst/>
            <a:gdLst/>
            <a:ahLst/>
            <a:cxnLst/>
            <a:rect l="l" t="t" r="r" b="b"/>
            <a:pathLst>
              <a:path w="2598121" h="2598121">
                <a:moveTo>
                  <a:pt x="0" y="0"/>
                </a:moveTo>
                <a:lnTo>
                  <a:pt x="2598121" y="0"/>
                </a:lnTo>
                <a:lnTo>
                  <a:pt x="2598121" y="2598121"/>
                </a:lnTo>
                <a:lnTo>
                  <a:pt x="0" y="25981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 flipH="1" flipV="1">
            <a:off x="15689879" y="7688879"/>
            <a:ext cx="2598121" cy="2598121"/>
          </a:xfrm>
          <a:custGeom>
            <a:avLst/>
            <a:gdLst/>
            <a:ahLst/>
            <a:cxnLst/>
            <a:rect l="l" t="t" r="r" b="b"/>
            <a:pathLst>
              <a:path w="2598121" h="2598121">
                <a:moveTo>
                  <a:pt x="2598121" y="2598121"/>
                </a:moveTo>
                <a:lnTo>
                  <a:pt x="0" y="2598121"/>
                </a:lnTo>
                <a:lnTo>
                  <a:pt x="0" y="0"/>
                </a:lnTo>
                <a:lnTo>
                  <a:pt x="2598121" y="0"/>
                </a:lnTo>
                <a:lnTo>
                  <a:pt x="2598121" y="259812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7"/>
          <p:cNvSpPr txBox="1"/>
          <p:nvPr/>
        </p:nvSpPr>
        <p:spPr>
          <a:xfrm>
            <a:off x="800100" y="374986"/>
            <a:ext cx="8569267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80"/>
              </a:lnSpc>
              <a:spcBef>
                <a:spcPct val="0"/>
              </a:spcBef>
            </a:pPr>
            <a:r>
              <a:rPr lang="en-US" sz="7200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Proposed Methodology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915" y="1369881"/>
            <a:ext cx="6551117" cy="5561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8"/>
              </a:lnSpc>
            </a:pPr>
            <a:r>
              <a:rPr lang="en-US" sz="2220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Data Pipeline</a:t>
            </a:r>
          </a:p>
          <a:p>
            <a:pPr marL="572675" lvl="1" indent="-342900" algn="l">
              <a:lnSpc>
                <a:spcPts val="2979"/>
              </a:lnSpc>
              <a:buFont typeface="Arial" panose="020B0604020202020204" pitchFamily="34" charset="0"/>
              <a:buChar char="•"/>
            </a:pPr>
            <a:r>
              <a:rPr lang="en-US" sz="2128" dirty="0">
                <a:solidFill>
                  <a:srgbClr val="2D388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Data Collection: Multi-sensor measurements (voltage, current, power, temperature, CPU/GPU metrics, ESP32, RAM usage)</a:t>
            </a:r>
          </a:p>
          <a:p>
            <a:pPr marL="572675" lvl="1" indent="-342900" algn="l">
              <a:lnSpc>
                <a:spcPts val="2979"/>
              </a:lnSpc>
              <a:buFont typeface="Arial" panose="020B0604020202020204" pitchFamily="34" charset="0"/>
              <a:buChar char="•"/>
            </a:pPr>
            <a:r>
              <a:rPr lang="en-US" sz="2128" dirty="0">
                <a:solidFill>
                  <a:srgbClr val="2D388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Preprocessing: Missing value handling (forward fill), outlier removal (z- score threshold &lt;3), feature scaling (StandardScaler), encoding</a:t>
            </a:r>
          </a:p>
          <a:p>
            <a:pPr marL="572675" lvl="1" indent="-342900" algn="l">
              <a:lnSpc>
                <a:spcPts val="2979"/>
              </a:lnSpc>
              <a:buFont typeface="Arial" panose="020B0604020202020204" pitchFamily="34" charset="0"/>
              <a:buChar char="•"/>
            </a:pPr>
            <a:r>
              <a:rPr lang="en-US" sz="2128" dirty="0">
                <a:solidFill>
                  <a:srgbClr val="2D388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Feature Engineering: Time-based features, lag variables, domain-specific metrics</a:t>
            </a:r>
          </a:p>
          <a:p>
            <a:pPr marL="572675" lvl="1" indent="-342900" algn="l">
              <a:lnSpc>
                <a:spcPts val="2979"/>
              </a:lnSpc>
              <a:buFont typeface="Arial" panose="020B0604020202020204" pitchFamily="34" charset="0"/>
              <a:buChar char="•"/>
            </a:pPr>
            <a:r>
              <a:rPr lang="en-US" sz="2128" dirty="0">
                <a:solidFill>
                  <a:srgbClr val="2D388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Sequence Creation: Time-series windows for temporal </a:t>
            </a:r>
            <a:r>
              <a:rPr lang="en-US" sz="2128" dirty="0">
                <a:solidFill>
                  <a:srgbClr val="2D3880"/>
                </a:solidFill>
                <a:latin typeface="Cormorant Garamond"/>
                <a:sym typeface="Cormorant Garamond"/>
              </a:rPr>
              <a:t>modeling </a:t>
            </a:r>
            <a:r>
              <a:rPr lang="en-US" sz="2128" dirty="0">
                <a:solidFill>
                  <a:srgbClr val="2D3880"/>
                </a:solidFill>
                <a:latin typeface="Cormorant Garamond"/>
              </a:rPr>
              <a:t>(10 timesteps → predict next timestep)</a:t>
            </a:r>
          </a:p>
          <a:p>
            <a:br>
              <a:rPr lang="en-US" dirty="0"/>
            </a:br>
            <a:endParaRPr lang="en-US" sz="2128" dirty="0">
              <a:solidFill>
                <a:srgbClr val="2D388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algn="l">
              <a:lnSpc>
                <a:spcPts val="2979"/>
              </a:lnSpc>
            </a:pPr>
            <a:endParaRPr lang="en-US" sz="2128" dirty="0">
              <a:solidFill>
                <a:srgbClr val="2D388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algn="ctr">
              <a:lnSpc>
                <a:spcPts val="2559"/>
              </a:lnSpc>
              <a:spcBef>
                <a:spcPct val="0"/>
              </a:spcBef>
            </a:pPr>
            <a:endParaRPr lang="en-US" sz="2128" dirty="0">
              <a:solidFill>
                <a:srgbClr val="2D388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738247" y="1554181"/>
            <a:ext cx="6364120" cy="4885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8"/>
              </a:lnSpc>
            </a:pPr>
            <a:r>
              <a:rPr lang="en-US" sz="2220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Model Architecture</a:t>
            </a:r>
          </a:p>
          <a:p>
            <a:pPr marL="459867" lvl="1" indent="-229933" algn="l">
              <a:lnSpc>
                <a:spcPts val="2981"/>
              </a:lnSpc>
              <a:buFont typeface="Arial"/>
              <a:buChar char="•"/>
            </a:pPr>
            <a:r>
              <a:rPr lang="en-US" sz="2129" dirty="0">
                <a:solidFill>
                  <a:srgbClr val="2D388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Input Layer: Sequence of sensor measurements (10 timesteps × 26 features)</a:t>
            </a:r>
          </a:p>
          <a:p>
            <a:pPr marL="459867" lvl="1" indent="-229933" algn="l">
              <a:lnSpc>
                <a:spcPts val="2981"/>
              </a:lnSpc>
              <a:buFont typeface="Arial"/>
              <a:buChar char="•"/>
            </a:pPr>
            <a:r>
              <a:rPr lang="en-US" sz="2129" dirty="0">
                <a:solidFill>
                  <a:srgbClr val="2D388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Bidirectional Stacked LSTM Core: Bidirectional LSTM (Layer 1), Stacked LSTM units with dropout regularization (Layer 2-3), Batch Normalization, Global Max Pooling for salient feature extraction</a:t>
            </a:r>
          </a:p>
          <a:p>
            <a:pPr marL="459867" lvl="1" indent="-229933">
              <a:lnSpc>
                <a:spcPts val="2981"/>
              </a:lnSpc>
              <a:buFont typeface="Arial"/>
              <a:buChar char="•"/>
            </a:pPr>
            <a:r>
              <a:rPr lang="en-US" sz="2129" dirty="0">
                <a:solidFill>
                  <a:srgbClr val="2D388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Enhancement </a:t>
            </a:r>
            <a:r>
              <a:rPr lang="en-US" sz="2129" dirty="0">
                <a:solidFill>
                  <a:srgbClr val="2D3880"/>
                </a:solidFill>
                <a:latin typeface="Cormorant Garamond"/>
                <a:sym typeface="Cormorant Garamond"/>
              </a:rPr>
              <a:t>Layers: Dropout (0.3-0.6), batch normalization, Dense layers (</a:t>
            </a:r>
            <a:r>
              <a:rPr lang="en-IN" sz="2129" dirty="0">
                <a:solidFill>
                  <a:srgbClr val="2D3880"/>
                </a:solidFill>
                <a:latin typeface="Cormorant Garamond"/>
              </a:rPr>
              <a:t>64 → 25 → 1</a:t>
            </a:r>
            <a:r>
              <a:rPr lang="en-US" sz="2129" dirty="0">
                <a:solidFill>
                  <a:srgbClr val="2D3880"/>
                </a:solidFill>
                <a:latin typeface="Cormorant Garamond"/>
                <a:sym typeface="Cormorant Garamond"/>
              </a:rPr>
              <a:t>).</a:t>
            </a:r>
          </a:p>
          <a:p>
            <a:pPr marL="459867" lvl="1" indent="-229933" algn="l">
              <a:lnSpc>
                <a:spcPts val="2981"/>
              </a:lnSpc>
              <a:buFont typeface="Arial"/>
              <a:buChar char="•"/>
            </a:pPr>
            <a:r>
              <a:rPr lang="en-US" sz="2129" dirty="0">
                <a:solidFill>
                  <a:srgbClr val="2D388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Output Layer: Carbon emission prediction for next timestep.</a:t>
            </a:r>
          </a:p>
          <a:p>
            <a:pPr algn="l">
              <a:lnSpc>
                <a:spcPts val="2543"/>
              </a:lnSpc>
              <a:spcBef>
                <a:spcPct val="0"/>
              </a:spcBef>
            </a:pPr>
            <a:endParaRPr lang="en-US" sz="2129" dirty="0">
              <a:solidFill>
                <a:srgbClr val="2D388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algn="ctr">
              <a:lnSpc>
                <a:spcPts val="2543"/>
              </a:lnSpc>
              <a:spcBef>
                <a:spcPct val="0"/>
              </a:spcBef>
            </a:pPr>
            <a:endParaRPr lang="en-US" sz="2129" dirty="0">
              <a:solidFill>
                <a:srgbClr val="2D388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28646" y="5888914"/>
            <a:ext cx="7521053" cy="4074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IN" sz="2129" dirty="0">
                <a:solidFill>
                  <a:srgbClr val="2D3880"/>
                </a:solidFill>
                <a:latin typeface="Cormorant Garamond"/>
              </a:rPr>
              <a:t>Ninja Optimization Algorithm</a:t>
            </a:r>
          </a:p>
          <a:p>
            <a:r>
              <a:rPr lang="en-IN" sz="2129" dirty="0">
                <a:solidFill>
                  <a:srgbClr val="2D3880"/>
                </a:solidFill>
                <a:latin typeface="Cormorant Garamond"/>
                <a:sym typeface="Cormorant Garamond"/>
              </a:rPr>
              <a:t>Algorithm: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129" dirty="0">
                <a:solidFill>
                  <a:srgbClr val="2D3880"/>
                </a:solidFill>
                <a:latin typeface="Cormorant Garamond"/>
              </a:rPr>
              <a:t>Population Initialisation (12 agents with random hyperparameter configurations),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129" dirty="0">
                <a:solidFill>
                  <a:srgbClr val="2D3880"/>
                </a:solidFill>
                <a:latin typeface="Cormorant Garamond"/>
              </a:rPr>
              <a:t>Fitness Evaluation (Train LSTM model, compute validation loss),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129" dirty="0">
                <a:solidFill>
                  <a:srgbClr val="2D3880"/>
                </a:solidFill>
                <a:latin typeface="Cormorant Garamond"/>
              </a:rPr>
              <a:t>Exploration Phase (Early Iterations),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129" dirty="0">
                <a:solidFill>
                  <a:srgbClr val="2D3880"/>
                </a:solidFill>
                <a:latin typeface="Cormorant Garamond"/>
              </a:rPr>
              <a:t>Exploitation Phase (Later Iterations),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129" dirty="0">
                <a:solidFill>
                  <a:srgbClr val="2D3880"/>
                </a:solidFill>
                <a:latin typeface="Cormorant Garamond"/>
              </a:rPr>
              <a:t>Adaptive Phase Selection (Dynamic balance mimicking tactical ninja behaviour),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129" dirty="0">
                <a:solidFill>
                  <a:srgbClr val="2D3880"/>
                </a:solidFill>
                <a:latin typeface="Cormorant Garamond"/>
              </a:rPr>
              <a:t>Greedy Selection (Retain improvements only)</a:t>
            </a:r>
          </a:p>
          <a:p>
            <a:pPr algn="l">
              <a:lnSpc>
                <a:spcPts val="2941"/>
              </a:lnSpc>
              <a:spcBef>
                <a:spcPct val="0"/>
              </a:spcBef>
            </a:pPr>
            <a:endParaRPr lang="en-US" sz="2129" dirty="0">
              <a:solidFill>
                <a:srgbClr val="2D388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algn="ctr">
              <a:lnSpc>
                <a:spcPts val="2941"/>
              </a:lnSpc>
              <a:spcBef>
                <a:spcPct val="0"/>
              </a:spcBef>
            </a:pPr>
            <a:endParaRPr lang="en-US" sz="2129" dirty="0">
              <a:solidFill>
                <a:srgbClr val="2D388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738247" y="5657126"/>
            <a:ext cx="7521053" cy="4203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8"/>
              </a:lnSpc>
            </a:pPr>
            <a:r>
              <a:rPr lang="en-US" sz="2220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Training Strategy</a:t>
            </a:r>
          </a:p>
          <a:p>
            <a:pPr marL="459867" lvl="1" indent="-229933" algn="l">
              <a:lnSpc>
                <a:spcPts val="2981"/>
              </a:lnSpc>
              <a:buFont typeface="Arial"/>
              <a:buChar char="•"/>
            </a:pPr>
            <a:r>
              <a:rPr lang="en-US" sz="2129" dirty="0">
                <a:solidFill>
                  <a:srgbClr val="2D388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Data Split: 70% training, 15% validation, 15% testing</a:t>
            </a:r>
          </a:p>
          <a:p>
            <a:pPr marL="459867" lvl="1" indent="-229933" algn="l">
              <a:lnSpc>
                <a:spcPts val="2981"/>
              </a:lnSpc>
              <a:buFont typeface="Arial"/>
              <a:buChar char="•"/>
            </a:pPr>
            <a:r>
              <a:rPr lang="en-US" sz="2129" dirty="0">
                <a:solidFill>
                  <a:srgbClr val="2D388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Training Configuration: Hypermeter search(30 epoch/trial, patience= 5), Final model training(200 epoch, patience= 15), Learning rate reduction on plateau(factor=0.2, patience=7)</a:t>
            </a:r>
          </a:p>
          <a:p>
            <a:pPr marL="459867" lvl="1" indent="-229933" algn="l">
              <a:lnSpc>
                <a:spcPts val="2981"/>
              </a:lnSpc>
              <a:buFont typeface="Arial"/>
              <a:buChar char="•"/>
            </a:pPr>
            <a:r>
              <a:rPr lang="en-US" sz="2129" dirty="0">
                <a:solidFill>
                  <a:srgbClr val="2D388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Metrics: MAE, RMSE, R², Training and Validation loss curves for convergence analysis)</a:t>
            </a:r>
          </a:p>
          <a:p>
            <a:pPr marL="459867" lvl="1" indent="-229933" algn="l">
              <a:lnSpc>
                <a:spcPts val="2981"/>
              </a:lnSpc>
              <a:buFont typeface="Arial"/>
              <a:buChar char="•"/>
            </a:pPr>
            <a:r>
              <a:rPr lang="en-US" sz="2129" dirty="0">
                <a:solidFill>
                  <a:srgbClr val="2D388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Regularization: Dropout, batch normalization for generalization</a:t>
            </a:r>
          </a:p>
          <a:p>
            <a:pPr algn="l">
              <a:lnSpc>
                <a:spcPts val="2981"/>
              </a:lnSpc>
            </a:pPr>
            <a:endParaRPr lang="en-US" sz="2129" dirty="0">
              <a:solidFill>
                <a:srgbClr val="2D388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algn="l">
              <a:lnSpc>
                <a:spcPts val="2941"/>
              </a:lnSpc>
              <a:spcBef>
                <a:spcPct val="0"/>
              </a:spcBef>
            </a:pPr>
            <a:endParaRPr lang="en-US" sz="2129" dirty="0">
              <a:solidFill>
                <a:srgbClr val="2D388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algn="ctr">
              <a:lnSpc>
                <a:spcPts val="2941"/>
              </a:lnSpc>
              <a:spcBef>
                <a:spcPct val="0"/>
              </a:spcBef>
            </a:pPr>
            <a:endParaRPr lang="en-US" sz="2129" dirty="0">
              <a:solidFill>
                <a:srgbClr val="2D388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23130"/>
            <a:ext cx="5372897" cy="2276154"/>
          </a:xfrm>
          <a:custGeom>
            <a:avLst/>
            <a:gdLst/>
            <a:ahLst/>
            <a:cxnLst/>
            <a:rect l="l" t="t" r="r" b="b"/>
            <a:pathLst>
              <a:path w="5372897" h="2276154">
                <a:moveTo>
                  <a:pt x="0" y="2276155"/>
                </a:moveTo>
                <a:lnTo>
                  <a:pt x="5372897" y="2276155"/>
                </a:lnTo>
                <a:lnTo>
                  <a:pt x="5372897" y="0"/>
                </a:lnTo>
                <a:lnTo>
                  <a:pt x="0" y="0"/>
                </a:lnTo>
                <a:lnTo>
                  <a:pt x="0" y="22761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 flipH="1" flipV="1">
            <a:off x="12915103" y="23731"/>
            <a:ext cx="5372897" cy="2276154"/>
          </a:xfrm>
          <a:custGeom>
            <a:avLst/>
            <a:gdLst/>
            <a:ahLst/>
            <a:cxnLst/>
            <a:rect l="l" t="t" r="r" b="b"/>
            <a:pathLst>
              <a:path w="5372897" h="2276154">
                <a:moveTo>
                  <a:pt x="5372897" y="2276155"/>
                </a:moveTo>
                <a:lnTo>
                  <a:pt x="0" y="2276155"/>
                </a:lnTo>
                <a:lnTo>
                  <a:pt x="0" y="0"/>
                </a:lnTo>
                <a:lnTo>
                  <a:pt x="5372897" y="0"/>
                </a:lnTo>
                <a:lnTo>
                  <a:pt x="5372897" y="22761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576322" y="6176969"/>
            <a:ext cx="5984480" cy="2298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1"/>
              </a:lnSpc>
            </a:pPr>
            <a:r>
              <a:rPr lang="en-US" sz="264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Sequence Preparation</a:t>
            </a:r>
          </a:p>
          <a:p>
            <a:pPr marL="570775" lvl="1" indent="-285387" algn="l">
              <a:lnSpc>
                <a:spcPts val="3701"/>
              </a:lnSpc>
              <a:buFont typeface="Arial"/>
              <a:buChar char="•"/>
            </a:pPr>
            <a:r>
              <a:rPr lang="en-US" sz="2643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Training Sequences: 51,951 × 10 × 26</a:t>
            </a:r>
          </a:p>
          <a:p>
            <a:pPr marL="570775" lvl="1" indent="-285387" algn="l">
              <a:lnSpc>
                <a:spcPts val="3701"/>
              </a:lnSpc>
              <a:buFont typeface="Arial"/>
              <a:buChar char="•"/>
            </a:pPr>
            <a:r>
              <a:rPr lang="en-US" sz="2643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Validation Sequences: 11,124 × 10 × 26</a:t>
            </a:r>
          </a:p>
          <a:p>
            <a:pPr marL="570775" lvl="1" indent="-285387" algn="l">
              <a:lnSpc>
                <a:spcPts val="3701"/>
              </a:lnSpc>
              <a:buFont typeface="Arial"/>
              <a:buChar char="•"/>
            </a:pPr>
            <a:r>
              <a:rPr lang="en-US" sz="2643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Test Sequences: 11,125 × 10 × 26</a:t>
            </a:r>
          </a:p>
          <a:p>
            <a:pPr algn="ctr">
              <a:lnSpc>
                <a:spcPts val="3701"/>
              </a:lnSpc>
              <a:spcBef>
                <a:spcPct val="0"/>
              </a:spcBef>
            </a:pPr>
            <a:endParaRPr lang="en-US" sz="2643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76322" y="2242135"/>
            <a:ext cx="6711196" cy="3456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Dataset Overview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Size: 74,230 timestamped records from operational data centers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Features: 26 variables including electrical, thermal, and computational metrics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Preprocessing: Removed 769 outliers, handled missing values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400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829800" y="4017471"/>
            <a:ext cx="3754636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Ninja Optimization Results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78244" y="7702515"/>
            <a:ext cx="5175956" cy="4039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Best Validation Loss: 0.455692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78720" y="1438033"/>
            <a:ext cx="5451004" cy="4039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Model Performance (Best so far)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AFD410D-517C-22AB-626A-D2802C6192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182773"/>
              </p:ext>
            </p:extLst>
          </p:nvPr>
        </p:nvGraphicFramePr>
        <p:xfrm>
          <a:off x="9829800" y="2052962"/>
          <a:ext cx="5657850" cy="16275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5950">
                  <a:extLst>
                    <a:ext uri="{9D8B030D-6E8A-4147-A177-3AD203B41FA5}">
                      <a16:colId xmlns:a16="http://schemas.microsoft.com/office/drawing/2014/main" val="1693579998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117645260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535269265"/>
                    </a:ext>
                  </a:extLst>
                </a:gridCol>
              </a:tblGrid>
              <a:tr h="499743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8274788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1.2128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1.7302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5376618"/>
                  </a:ext>
                </a:extLst>
              </a:tr>
              <a:tr h="51822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1.2237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1.7357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781680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AA2F485-E841-1F4D-306E-9CD7443DE3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815524"/>
              </p:ext>
            </p:extLst>
          </p:nvPr>
        </p:nvGraphicFramePr>
        <p:xfrm>
          <a:off x="12134598" y="4726765"/>
          <a:ext cx="468200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1885">
                  <a:extLst>
                    <a:ext uri="{9D8B030D-6E8A-4147-A177-3AD203B41FA5}">
                      <a16:colId xmlns:a16="http://schemas.microsoft.com/office/drawing/2014/main" val="2715770979"/>
                    </a:ext>
                  </a:extLst>
                </a:gridCol>
                <a:gridCol w="1630121">
                  <a:extLst>
                    <a:ext uri="{9D8B030D-6E8A-4147-A177-3AD203B41FA5}">
                      <a16:colId xmlns:a16="http://schemas.microsoft.com/office/drawing/2014/main" val="15828289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Hypermeter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Bast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29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LSTM layers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7046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Units per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267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Dropout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0.5246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934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Optimizer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Adamw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906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Learning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1.671*10^-4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21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895788"/>
                  </a:ext>
                </a:extLst>
              </a:tr>
            </a:tbl>
          </a:graphicData>
        </a:graphic>
      </p:graphicFrame>
      <p:pic>
        <p:nvPicPr>
          <p:cNvPr id="14" name="Picture 13" descr="A graph of a curve and a ninja&#10;&#10;AI-generated content may be incorrect.">
            <a:extLst>
              <a:ext uri="{FF2B5EF4-FFF2-40B4-BE49-F238E27FC236}">
                <a16:creationId xmlns:a16="http://schemas.microsoft.com/office/drawing/2014/main" id="{420E7EF0-704B-30EE-2D16-9B70483D75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576"/>
          <a:stretch>
            <a:fillRect/>
          </a:stretch>
        </p:blipFill>
        <p:spPr>
          <a:xfrm>
            <a:off x="7497354" y="4516078"/>
            <a:ext cx="4496679" cy="33217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763000" cy="10287000"/>
            <a:chOff x="0" y="0"/>
            <a:chExt cx="166766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7662" cy="2709333"/>
            </a:xfrm>
            <a:custGeom>
              <a:avLst/>
              <a:gdLst/>
              <a:ahLst/>
              <a:cxnLst/>
              <a:rect l="l" t="t" r="r" b="b"/>
              <a:pathLst>
                <a:path w="1667662" h="2709333">
                  <a:moveTo>
                    <a:pt x="0" y="0"/>
                  </a:moveTo>
                  <a:lnTo>
                    <a:pt x="1667662" y="0"/>
                  </a:lnTo>
                  <a:lnTo>
                    <a:pt x="166766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D9DE4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667662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dirty="0"/>
            </a:p>
          </p:txBody>
        </p:sp>
      </p:grpSp>
      <p:sp>
        <p:nvSpPr>
          <p:cNvPr id="5" name="Freeform 5"/>
          <p:cNvSpPr/>
          <p:nvPr/>
        </p:nvSpPr>
        <p:spPr>
          <a:xfrm rot="-10800000">
            <a:off x="8752840" y="-216991"/>
            <a:ext cx="9885830" cy="15145422"/>
          </a:xfrm>
          <a:custGeom>
            <a:avLst/>
            <a:gdLst/>
            <a:ahLst/>
            <a:cxnLst/>
            <a:rect l="l" t="t" r="r" b="b"/>
            <a:pathLst>
              <a:path w="9885830" h="15145422">
                <a:moveTo>
                  <a:pt x="0" y="0"/>
                </a:moveTo>
                <a:lnTo>
                  <a:pt x="9885830" y="0"/>
                </a:lnTo>
                <a:lnTo>
                  <a:pt x="9885830" y="15145422"/>
                </a:lnTo>
                <a:lnTo>
                  <a:pt x="0" y="151454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TextBox 6"/>
          <p:cNvSpPr txBox="1"/>
          <p:nvPr/>
        </p:nvSpPr>
        <p:spPr>
          <a:xfrm>
            <a:off x="12008057" y="3781534"/>
            <a:ext cx="5251243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79"/>
              </a:lnSpc>
            </a:pPr>
            <a:endParaRPr dirty="0"/>
          </a:p>
        </p:txBody>
      </p:sp>
      <p:sp>
        <p:nvSpPr>
          <p:cNvPr id="7" name="TextBox 7"/>
          <p:cNvSpPr txBox="1"/>
          <p:nvPr/>
        </p:nvSpPr>
        <p:spPr>
          <a:xfrm>
            <a:off x="9780917" y="5469898"/>
            <a:ext cx="8486763" cy="3141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Training Efficiency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66" dirty="0">
                <a:solidFill>
                  <a:srgbClr val="000000"/>
                </a:solidFill>
                <a:latin typeface="Glacial Indifference"/>
              </a:rPr>
              <a:t>Convergence: Approximately 16 epochs with early stopping for final model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66" dirty="0">
                <a:solidFill>
                  <a:srgbClr val="000000"/>
                </a:solidFill>
                <a:latin typeface="Glacial Indifference"/>
              </a:rPr>
              <a:t>Total training time: approx. 18 hours for complete hyperparameter search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66" dirty="0">
                <a:solidFill>
                  <a:srgbClr val="000000"/>
                </a:solidFill>
                <a:latin typeface="Glacial Indifference"/>
              </a:rPr>
              <a:t>Efficient resource utilization with GPU acceleration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endParaRPr lang="en-US" sz="2900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88097" y="167640"/>
            <a:ext cx="4955710" cy="342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200" b="1" i="1" dirty="0">
                <a:solidFill>
                  <a:srgbClr val="FFFFF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Results and Analysis</a:t>
            </a:r>
          </a:p>
          <a:p>
            <a:pPr marL="0" lvl="0" indent="0" algn="l">
              <a:lnSpc>
                <a:spcPts val="9000"/>
              </a:lnSpc>
            </a:pPr>
            <a:endParaRPr lang="en-US" sz="7200" b="1" i="1" dirty="0">
              <a:solidFill>
                <a:srgbClr val="FFFFFF"/>
              </a:solidFill>
              <a:latin typeface="Cormorant Garamond Bold Italics"/>
              <a:ea typeface="Cormorant Garamond Bold Italics"/>
              <a:cs typeface="Cormorant Garamond Bold Italics"/>
              <a:sym typeface="Cormorant Garamond Bold Italic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461983" y="1297213"/>
            <a:ext cx="7736150" cy="3851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73"/>
              </a:lnSpc>
            </a:pPr>
            <a:r>
              <a:rPr lang="en-US" sz="2766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Architectural Benefits</a:t>
            </a:r>
          </a:p>
          <a:p>
            <a:pPr marL="597295" lvl="1" indent="-298648" algn="l">
              <a:lnSpc>
                <a:spcPts val="3873"/>
              </a:lnSpc>
              <a:buFont typeface="Arial"/>
              <a:buChar char="•"/>
            </a:pPr>
            <a:r>
              <a:rPr lang="en-US" sz="2766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Bidirectional LSTM: improvement in temporal context capture</a:t>
            </a:r>
          </a:p>
          <a:p>
            <a:pPr marL="597295" lvl="1" indent="-298648" algn="l">
              <a:lnSpc>
                <a:spcPts val="3873"/>
              </a:lnSpc>
              <a:buFont typeface="Arial"/>
              <a:buChar char="•"/>
            </a:pPr>
            <a:r>
              <a:rPr lang="en-US" sz="2766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Stacked Layers: Enhanced hierarchical pattern recognition</a:t>
            </a:r>
          </a:p>
          <a:p>
            <a:pPr marL="597295" lvl="1" indent="-298648" algn="l">
              <a:lnSpc>
                <a:spcPts val="3873"/>
              </a:lnSpc>
              <a:buFont typeface="Arial"/>
              <a:buChar char="•"/>
            </a:pPr>
            <a:r>
              <a:rPr lang="en-US" sz="2766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Advanced Pooling: Better sequence summarization</a:t>
            </a:r>
          </a:p>
          <a:p>
            <a:pPr algn="ctr">
              <a:lnSpc>
                <a:spcPts val="3873"/>
              </a:lnSpc>
              <a:spcBef>
                <a:spcPct val="0"/>
              </a:spcBef>
            </a:pPr>
            <a:endParaRPr lang="en-US" sz="2766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35C590-9DDB-24C6-35C1-DDD2E1D6384C}"/>
              </a:ext>
            </a:extLst>
          </p:cNvPr>
          <p:cNvSpPr txBox="1"/>
          <p:nvPr/>
        </p:nvSpPr>
        <p:spPr>
          <a:xfrm>
            <a:off x="20320" y="2327554"/>
            <a:ext cx="8732520" cy="3870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873"/>
              </a:lnSpc>
            </a:pPr>
            <a:r>
              <a:rPr lang="en-US" sz="2766" b="1" dirty="0">
                <a:solidFill>
                  <a:srgbClr val="000000"/>
                </a:solidFill>
                <a:latin typeface="Glacial Indifference Bold"/>
              </a:rPr>
              <a:t>Convergence Behavior</a:t>
            </a:r>
          </a:p>
          <a:p>
            <a:pPr marL="597295" lvl="1" indent="-298648">
              <a:lnSpc>
                <a:spcPts val="3873"/>
              </a:lnSpc>
              <a:buFont typeface="Arial"/>
              <a:buChar char="•"/>
            </a:pPr>
            <a:r>
              <a:rPr lang="en-US" sz="2766" dirty="0">
                <a:solidFill>
                  <a:srgbClr val="000000"/>
                </a:solidFill>
                <a:latin typeface="Glacial Indifference"/>
              </a:rPr>
              <a:t>Monotonic fitness decrease over 12 iterations</a:t>
            </a:r>
          </a:p>
          <a:p>
            <a:pPr marL="597295" lvl="1" indent="-298648">
              <a:lnSpc>
                <a:spcPts val="3873"/>
              </a:lnSpc>
              <a:buFont typeface="Arial"/>
              <a:buChar char="•"/>
            </a:pPr>
            <a:r>
              <a:rPr lang="en-US" sz="2766" dirty="0">
                <a:solidFill>
                  <a:srgbClr val="000000"/>
                </a:solidFill>
                <a:latin typeface="Glacial Indifference"/>
              </a:rPr>
              <a:t>Rapid improvements in exploration phase (iterations 0-6)</a:t>
            </a:r>
          </a:p>
          <a:p>
            <a:pPr marL="597295" lvl="1" indent="-298648">
              <a:lnSpc>
                <a:spcPts val="3873"/>
              </a:lnSpc>
              <a:buFont typeface="Arial"/>
              <a:buChar char="•"/>
            </a:pPr>
            <a:r>
              <a:rPr lang="en-US" sz="2766" dirty="0">
                <a:solidFill>
                  <a:srgbClr val="000000"/>
                </a:solidFill>
                <a:latin typeface="Glacial Indifference"/>
              </a:rPr>
              <a:t>Incremental refinements in exploitation phase (iterations 7-12)</a:t>
            </a:r>
          </a:p>
          <a:p>
            <a:pPr marL="597295" lvl="1" indent="-298648">
              <a:lnSpc>
                <a:spcPts val="3873"/>
              </a:lnSpc>
              <a:buFont typeface="Arial"/>
              <a:buChar char="•"/>
            </a:pPr>
            <a:r>
              <a:rPr lang="en-US" sz="2766" dirty="0">
                <a:solidFill>
                  <a:srgbClr val="000000"/>
                </a:solidFill>
                <a:latin typeface="Glacial Indifference"/>
              </a:rPr>
              <a:t>Efficient search validated by convergence curve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EACF99-2F6B-4C58-778A-51E7F62512F4}"/>
              </a:ext>
            </a:extLst>
          </p:cNvPr>
          <p:cNvSpPr txBox="1"/>
          <p:nvPr/>
        </p:nvSpPr>
        <p:spPr>
          <a:xfrm>
            <a:off x="385342" y="6035009"/>
            <a:ext cx="8064743" cy="299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873"/>
              </a:lnSpc>
            </a:pPr>
            <a:r>
              <a:rPr lang="en-US" sz="2766" b="1" dirty="0">
                <a:solidFill>
                  <a:srgbClr val="000000"/>
                </a:solidFill>
                <a:latin typeface="Glacial Indifference Bold"/>
              </a:rPr>
              <a:t>Training Dynamics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66" dirty="0">
                <a:solidFill>
                  <a:srgbClr val="000000"/>
                </a:solidFill>
                <a:latin typeface="Glacial Indifference"/>
              </a:rPr>
              <a:t>Steady convergence with minimal fluctuations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66" dirty="0">
                <a:solidFill>
                  <a:srgbClr val="000000"/>
                </a:solidFill>
                <a:latin typeface="Glacial Indifference"/>
              </a:rPr>
              <a:t>Stable learning throughout epochs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66" dirty="0">
                <a:solidFill>
                  <a:srgbClr val="000000"/>
                </a:solidFill>
                <a:latin typeface="Glacial Indifference"/>
              </a:rPr>
              <a:t>Effective regularization via dropout and batch normalization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66" dirty="0">
                <a:solidFill>
                  <a:srgbClr val="000000"/>
                </a:solidFill>
                <a:latin typeface="Glacial Indifference"/>
              </a:rPr>
              <a:t>Lower validation errors maintained consistently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44D5C-1767-49DB-3536-D99AD2113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DBFD0C4-4CE1-07C5-B27D-727634C462DB}"/>
              </a:ext>
            </a:extLst>
          </p:cNvPr>
          <p:cNvGrpSpPr/>
          <p:nvPr/>
        </p:nvGrpSpPr>
        <p:grpSpPr>
          <a:xfrm>
            <a:off x="-3505200" y="-21662"/>
            <a:ext cx="8763000" cy="10287000"/>
            <a:chOff x="0" y="0"/>
            <a:chExt cx="1667662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B0EDB83-B221-6EB1-1E00-3C8327292B8C}"/>
                </a:ext>
              </a:extLst>
            </p:cNvPr>
            <p:cNvSpPr/>
            <p:nvPr/>
          </p:nvSpPr>
          <p:spPr>
            <a:xfrm>
              <a:off x="0" y="0"/>
              <a:ext cx="1667662" cy="2709333"/>
            </a:xfrm>
            <a:custGeom>
              <a:avLst/>
              <a:gdLst/>
              <a:ahLst/>
              <a:cxnLst/>
              <a:rect l="l" t="t" r="r" b="b"/>
              <a:pathLst>
                <a:path w="1667662" h="2709333">
                  <a:moveTo>
                    <a:pt x="0" y="0"/>
                  </a:moveTo>
                  <a:lnTo>
                    <a:pt x="1667662" y="0"/>
                  </a:lnTo>
                  <a:lnTo>
                    <a:pt x="166766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D9DE4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DAFE167-53FB-40C7-0794-657C0102519D}"/>
                </a:ext>
              </a:extLst>
            </p:cNvPr>
            <p:cNvSpPr txBox="1"/>
            <p:nvPr/>
          </p:nvSpPr>
          <p:spPr>
            <a:xfrm>
              <a:off x="0" y="-57150"/>
              <a:ext cx="1667662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dirty="0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347EBF0F-68E7-5FB7-DD57-81AB72A36966}"/>
              </a:ext>
            </a:extLst>
          </p:cNvPr>
          <p:cNvSpPr/>
          <p:nvPr/>
        </p:nvSpPr>
        <p:spPr>
          <a:xfrm rot="-10800000">
            <a:off x="5257800" y="-21662"/>
            <a:ext cx="9885830" cy="15145422"/>
          </a:xfrm>
          <a:custGeom>
            <a:avLst/>
            <a:gdLst/>
            <a:ahLst/>
            <a:cxnLst/>
            <a:rect l="l" t="t" r="r" b="b"/>
            <a:pathLst>
              <a:path w="9885830" h="15145422">
                <a:moveTo>
                  <a:pt x="0" y="0"/>
                </a:moveTo>
                <a:lnTo>
                  <a:pt x="9885830" y="0"/>
                </a:lnTo>
                <a:lnTo>
                  <a:pt x="9885830" y="15145422"/>
                </a:lnTo>
                <a:lnTo>
                  <a:pt x="0" y="151454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71D8917-74BD-F1E4-9795-7434596748D7}"/>
              </a:ext>
            </a:extLst>
          </p:cNvPr>
          <p:cNvSpPr txBox="1"/>
          <p:nvPr/>
        </p:nvSpPr>
        <p:spPr>
          <a:xfrm>
            <a:off x="12008057" y="3781534"/>
            <a:ext cx="5251243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79"/>
              </a:lnSpc>
            </a:pPr>
            <a:endParaRPr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2A9E7D9-A587-8187-59F2-8CCE8390E7CD}"/>
              </a:ext>
            </a:extLst>
          </p:cNvPr>
          <p:cNvSpPr txBox="1"/>
          <p:nvPr/>
        </p:nvSpPr>
        <p:spPr>
          <a:xfrm>
            <a:off x="688097" y="167640"/>
            <a:ext cx="4955710" cy="342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200" b="1" i="1" dirty="0">
                <a:solidFill>
                  <a:srgbClr val="FFFFF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Results and Analysis</a:t>
            </a:r>
          </a:p>
          <a:p>
            <a:pPr marL="0" lvl="0" indent="0" algn="l">
              <a:lnSpc>
                <a:spcPts val="9000"/>
              </a:lnSpc>
            </a:pPr>
            <a:endParaRPr lang="en-US" sz="7200" b="1" i="1" dirty="0">
              <a:solidFill>
                <a:srgbClr val="FFFFFF"/>
              </a:solidFill>
              <a:latin typeface="Cormorant Garamond Bold Italics"/>
              <a:ea typeface="Cormorant Garamond Bold Italics"/>
              <a:cs typeface="Cormorant Garamond Bold Italics"/>
              <a:sym typeface="Cormorant Garamond Bold Italics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5FC4EC1F-73C1-1137-69DE-161E947E2F11}"/>
              </a:ext>
            </a:extLst>
          </p:cNvPr>
          <p:cNvSpPr txBox="1"/>
          <p:nvPr/>
        </p:nvSpPr>
        <p:spPr>
          <a:xfrm>
            <a:off x="7332395" y="571500"/>
            <a:ext cx="7736150" cy="546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73"/>
              </a:lnSpc>
            </a:pPr>
            <a:r>
              <a:rPr lang="en-US" sz="2766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Observations</a:t>
            </a:r>
          </a:p>
          <a:p>
            <a:pPr marL="597295" lvl="1" indent="-298648">
              <a:lnSpc>
                <a:spcPts val="3873"/>
              </a:lnSpc>
              <a:buFont typeface="Arial"/>
              <a:buChar char="•"/>
            </a:pPr>
            <a:r>
              <a:rPr lang="en-IN" sz="2766" dirty="0">
                <a:solidFill>
                  <a:srgbClr val="000000"/>
                </a:solidFill>
                <a:latin typeface="Glacial Indifference"/>
              </a:rPr>
              <a:t>NiOA model maintains consistently lower validation errors throughout training</a:t>
            </a:r>
          </a:p>
          <a:p>
            <a:pPr marL="597295" lvl="1" indent="-298648">
              <a:lnSpc>
                <a:spcPts val="3873"/>
              </a:lnSpc>
              <a:buFont typeface="Arial"/>
              <a:buChar char="•"/>
            </a:pPr>
            <a:r>
              <a:rPr lang="en-IN" sz="2766" dirty="0">
                <a:solidFill>
                  <a:srgbClr val="000000"/>
                </a:solidFill>
                <a:latin typeface="Glacial Indifference"/>
              </a:rPr>
              <a:t>Baseline model shows higher variance in validation loss</a:t>
            </a:r>
          </a:p>
          <a:p>
            <a:pPr marL="597295" lvl="1" indent="-298648">
              <a:lnSpc>
                <a:spcPts val="3873"/>
              </a:lnSpc>
              <a:buFont typeface="Arial"/>
              <a:buChar char="•"/>
            </a:pPr>
            <a:r>
              <a:rPr lang="en-IN" sz="2766" dirty="0">
                <a:solidFill>
                  <a:srgbClr val="000000"/>
                </a:solidFill>
                <a:latin typeface="Glacial Indifference"/>
              </a:rPr>
              <a:t>NiOA demonstrates superior generalization capability</a:t>
            </a:r>
          </a:p>
          <a:p>
            <a:pPr marL="597295" lvl="1" indent="-298648">
              <a:lnSpc>
                <a:spcPts val="3873"/>
              </a:lnSpc>
              <a:buFont typeface="Arial"/>
              <a:buChar char="•"/>
            </a:pPr>
            <a:r>
              <a:rPr lang="en-IN" sz="2766" dirty="0">
                <a:solidFill>
                  <a:srgbClr val="000000"/>
                </a:solidFill>
                <a:latin typeface="Glacial Indifference"/>
              </a:rPr>
              <a:t>Training-validation gap narrower for NiOA (less overfitting)</a:t>
            </a:r>
          </a:p>
          <a:p>
            <a:pPr marL="597295" lvl="1" indent="-298648" algn="l">
              <a:lnSpc>
                <a:spcPts val="3873"/>
              </a:lnSpc>
              <a:buFont typeface="Arial"/>
              <a:buChar char="•"/>
            </a:pPr>
            <a:endParaRPr lang="en-US" sz="2766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ctr">
              <a:lnSpc>
                <a:spcPts val="3873"/>
              </a:lnSpc>
              <a:spcBef>
                <a:spcPct val="0"/>
              </a:spcBef>
            </a:pPr>
            <a:endParaRPr lang="en-US" sz="2766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0419561B-92BA-C87D-9122-46BE6C3B418C}"/>
              </a:ext>
            </a:extLst>
          </p:cNvPr>
          <p:cNvSpPr txBox="1"/>
          <p:nvPr/>
        </p:nvSpPr>
        <p:spPr>
          <a:xfrm>
            <a:off x="7445024" y="5169991"/>
            <a:ext cx="7736150" cy="1464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73"/>
              </a:lnSpc>
            </a:pPr>
            <a:r>
              <a:rPr lang="en-US" sz="2766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Loss Curves </a:t>
            </a:r>
          </a:p>
          <a:p>
            <a:pPr marL="597295" lvl="1" indent="-298648" algn="l">
              <a:lnSpc>
                <a:spcPts val="3873"/>
              </a:lnSpc>
              <a:buFont typeface="Arial"/>
              <a:buChar char="•"/>
            </a:pPr>
            <a:endParaRPr lang="en-US" sz="2766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ctr">
              <a:lnSpc>
                <a:spcPts val="3873"/>
              </a:lnSpc>
              <a:spcBef>
                <a:spcPct val="0"/>
              </a:spcBef>
            </a:pPr>
            <a:endParaRPr lang="en-US" sz="2766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pic>
        <p:nvPicPr>
          <p:cNvPr id="9" name="Picture 8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64585E91-1957-81C6-62AB-F20D36D249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439" y="5955821"/>
            <a:ext cx="8633485" cy="304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838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299209" y="2299284"/>
            <a:ext cx="15689580" cy="6776353"/>
            <a:chOff x="0" y="0"/>
            <a:chExt cx="2132412" cy="17847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32412" cy="1784718"/>
            </a:xfrm>
            <a:custGeom>
              <a:avLst/>
              <a:gdLst/>
              <a:ahLst/>
              <a:cxnLst/>
              <a:rect l="l" t="t" r="r" b="b"/>
              <a:pathLst>
                <a:path w="2132412" h="1784718">
                  <a:moveTo>
                    <a:pt x="0" y="0"/>
                  </a:moveTo>
                  <a:lnTo>
                    <a:pt x="2132412" y="0"/>
                  </a:lnTo>
                  <a:lnTo>
                    <a:pt x="2132412" y="1784718"/>
                  </a:lnTo>
                  <a:lnTo>
                    <a:pt x="0" y="1784718"/>
                  </a:lnTo>
                  <a:close/>
                </a:path>
              </a:pathLst>
            </a:custGeom>
            <a:solidFill>
              <a:srgbClr val="9D9DE4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32412" cy="18418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dirty="0"/>
            </a:p>
          </p:txBody>
        </p:sp>
      </p:grpSp>
      <p:sp>
        <p:nvSpPr>
          <p:cNvPr id="8" name="Freeform 8"/>
          <p:cNvSpPr/>
          <p:nvPr/>
        </p:nvSpPr>
        <p:spPr>
          <a:xfrm flipV="1">
            <a:off x="0" y="23130"/>
            <a:ext cx="5372897" cy="2276154"/>
          </a:xfrm>
          <a:custGeom>
            <a:avLst/>
            <a:gdLst/>
            <a:ahLst/>
            <a:cxnLst/>
            <a:rect l="l" t="t" r="r" b="b"/>
            <a:pathLst>
              <a:path w="5372897" h="2276154">
                <a:moveTo>
                  <a:pt x="0" y="2276155"/>
                </a:moveTo>
                <a:lnTo>
                  <a:pt x="5372897" y="2276155"/>
                </a:lnTo>
                <a:lnTo>
                  <a:pt x="5372897" y="0"/>
                </a:lnTo>
                <a:lnTo>
                  <a:pt x="0" y="0"/>
                </a:lnTo>
                <a:lnTo>
                  <a:pt x="0" y="22761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9" name="Freeform 9"/>
          <p:cNvSpPr/>
          <p:nvPr/>
        </p:nvSpPr>
        <p:spPr>
          <a:xfrm flipH="1" flipV="1">
            <a:off x="12915103" y="23731"/>
            <a:ext cx="5372897" cy="2276154"/>
          </a:xfrm>
          <a:custGeom>
            <a:avLst/>
            <a:gdLst/>
            <a:ahLst/>
            <a:cxnLst/>
            <a:rect l="l" t="t" r="r" b="b"/>
            <a:pathLst>
              <a:path w="5372897" h="2276154">
                <a:moveTo>
                  <a:pt x="5372897" y="2276155"/>
                </a:moveTo>
                <a:lnTo>
                  <a:pt x="0" y="2276155"/>
                </a:lnTo>
                <a:lnTo>
                  <a:pt x="0" y="0"/>
                </a:lnTo>
                <a:lnTo>
                  <a:pt x="5372897" y="0"/>
                </a:lnTo>
                <a:lnTo>
                  <a:pt x="5372897" y="22761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0" name="TextBox 10"/>
          <p:cNvSpPr txBox="1"/>
          <p:nvPr/>
        </p:nvSpPr>
        <p:spPr>
          <a:xfrm>
            <a:off x="6499762" y="447963"/>
            <a:ext cx="5288475" cy="787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97"/>
              </a:lnSpc>
              <a:spcBef>
                <a:spcPct val="0"/>
              </a:spcBef>
            </a:pPr>
            <a:r>
              <a:rPr lang="en-US" sz="4640" b="1" dirty="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Future Directions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66899" y="3543300"/>
            <a:ext cx="14554200" cy="41461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FFFF"/>
                </a:solidFill>
                <a:latin typeface="Glacial Indifference"/>
              </a:rPr>
              <a:t>Dual-Path Architecture: Parallel branches for short-term and long-term patterns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FFFF"/>
                </a:solidFill>
                <a:latin typeface="Glacial Indifference"/>
              </a:rPr>
              <a:t>Attention Mechanisms: Learn which timesteps are most important for predictions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FFFF"/>
                </a:solidFill>
                <a:latin typeface="Glacial Indifference"/>
              </a:rPr>
              <a:t>Transfer Learning: Fine-tune on different facilities without retraining from scratch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FFFF"/>
                </a:solidFill>
                <a:latin typeface="Glacial Indifference"/>
              </a:rPr>
              <a:t>Ensemble Methods: Combine multiple models for robustness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FFFF"/>
                </a:solidFill>
                <a:latin typeface="Glacial Indifference"/>
              </a:rPr>
              <a:t>Explainability: Interpret which features drive predictions (SHAP values, attention weights)</a:t>
            </a:r>
          </a:p>
          <a:p>
            <a:endParaRPr lang="en-IN" dirty="0"/>
          </a:p>
          <a:p>
            <a:pPr marL="566518" lvl="1" indent="-283259" algn="l">
              <a:lnSpc>
                <a:spcPts val="3673"/>
              </a:lnSpc>
              <a:spcBef>
                <a:spcPct val="0"/>
              </a:spcBef>
              <a:buFont typeface="Arial"/>
              <a:buChar char="•"/>
            </a:pPr>
            <a:endParaRPr lang="en-US" sz="2623" dirty="0">
              <a:solidFill>
                <a:srgbClr val="FFFFFF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ctr">
              <a:lnSpc>
                <a:spcPts val="3673"/>
              </a:lnSpc>
              <a:spcBef>
                <a:spcPct val="0"/>
              </a:spcBef>
            </a:pPr>
            <a:endParaRPr lang="en-US" sz="2623" dirty="0">
              <a:solidFill>
                <a:srgbClr val="FFFFFF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20781" y="348615"/>
            <a:ext cx="11446438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2D388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References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14244130" y="-594360"/>
            <a:ext cx="4478210" cy="3525572"/>
          </a:xfrm>
          <a:custGeom>
            <a:avLst/>
            <a:gdLst/>
            <a:ahLst/>
            <a:cxnLst/>
            <a:rect l="l" t="t" r="r" b="b"/>
            <a:pathLst>
              <a:path w="4478210" h="3525572">
                <a:moveTo>
                  <a:pt x="4478210" y="0"/>
                </a:moveTo>
                <a:lnTo>
                  <a:pt x="0" y="0"/>
                </a:lnTo>
                <a:lnTo>
                  <a:pt x="0" y="3525572"/>
                </a:lnTo>
                <a:lnTo>
                  <a:pt x="4478210" y="3525572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4"/>
          <p:cNvSpPr txBox="1"/>
          <p:nvPr/>
        </p:nvSpPr>
        <p:spPr>
          <a:xfrm>
            <a:off x="457200" y="2417445"/>
            <a:ext cx="17373600" cy="49908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2766" dirty="0">
                <a:solidFill>
                  <a:srgbClr val="000000"/>
                </a:solidFill>
                <a:latin typeface="Glacial Indifference"/>
              </a:rPr>
              <a:t>Ben Ghorbal, A., et al. (2025). Predicting carbon dioxide emissions using deep learning and Ninja metaheuristic optimization algorithm. Scientific Reports, 15, Article 86251.​</a:t>
            </a:r>
          </a:p>
          <a:p>
            <a:r>
              <a:rPr lang="en-IN" sz="2766" dirty="0">
                <a:solidFill>
                  <a:srgbClr val="000000"/>
                </a:solidFill>
                <a:latin typeface="Glacial Indifference"/>
              </a:rPr>
              <a:t>Yassen, M. A., et al. (2025). Renewable energy forecasting using optimized quantum temporal model based on Ninja optimization algorithm. Scientific Reports, 15, Article 97109.​</a:t>
            </a:r>
          </a:p>
          <a:p>
            <a:r>
              <a:rPr lang="en-IN" sz="2766" dirty="0">
                <a:solidFill>
                  <a:srgbClr val="000000"/>
                </a:solidFill>
                <a:latin typeface="Glacial Indifference"/>
              </a:rPr>
              <a:t>Ben Ghorbal, A., et al. (2025). Sustainable soil organic carbon prediction using machine learning and the ninja optimization algorithm. Frontiers in Environmental Science, 13, Article 1630762.</a:t>
            </a:r>
          </a:p>
          <a:p>
            <a:r>
              <a:rPr lang="en-IN" sz="2766" dirty="0">
                <a:solidFill>
                  <a:srgbClr val="000000"/>
                </a:solidFill>
                <a:latin typeface="Glacial Indifference"/>
              </a:rPr>
              <a:t>Hochreiter, S., &amp; Schmidhuber, J. (1997). Long short-term memory. Neural Computation, 9(8), 1735-1780.</a:t>
            </a:r>
          </a:p>
          <a:p>
            <a:r>
              <a:rPr lang="en-IN" sz="2766" dirty="0">
                <a:solidFill>
                  <a:srgbClr val="000000"/>
                </a:solidFill>
                <a:latin typeface="Glacial Indifference"/>
              </a:rPr>
              <a:t>Graves, A., &amp; Schmidhuber, J. (2005). Framewise phoneme classification with bidirectional LSTM networks. Proceedings of IEEE ICASSP, 5, V-877.</a:t>
            </a:r>
          </a:p>
          <a:p>
            <a:r>
              <a:rPr lang="en-US" sz="2766" dirty="0">
                <a:solidFill>
                  <a:srgbClr val="000000"/>
                </a:solidFill>
                <a:latin typeface="Glacial Indifference"/>
              </a:rPr>
              <a:t>El-</a:t>
            </a:r>
            <a:r>
              <a:rPr lang="en-US" sz="2766" dirty="0" err="1">
                <a:solidFill>
                  <a:srgbClr val="000000"/>
                </a:solidFill>
                <a:latin typeface="Glacial Indifference"/>
              </a:rPr>
              <a:t>Kenawy</a:t>
            </a:r>
            <a:r>
              <a:rPr lang="en-US" sz="2766" dirty="0">
                <a:solidFill>
                  <a:srgbClr val="000000"/>
                </a:solidFill>
                <a:latin typeface="Glacial Indifference"/>
              </a:rPr>
              <a:t>, El-Sayed M., et al. "</a:t>
            </a:r>
            <a:r>
              <a:rPr lang="en-US" sz="2766" dirty="0" err="1">
                <a:solidFill>
                  <a:srgbClr val="000000"/>
                </a:solidFill>
                <a:latin typeface="Glacial Indifference"/>
              </a:rPr>
              <a:t>Nioa</a:t>
            </a:r>
            <a:r>
              <a:rPr lang="en-US" sz="2766" dirty="0">
                <a:solidFill>
                  <a:srgbClr val="000000"/>
                </a:solidFill>
                <a:latin typeface="Glacial Indifference"/>
              </a:rPr>
              <a:t>: A novel metaheuristic algorithm modeled on the stealth and precision of Japanese ninjas." Journal of Artificial Intelligence in Engineering Practice 1.2 (2024): 17-35.</a:t>
            </a:r>
            <a:endParaRPr lang="en-IN" sz="2766" dirty="0">
              <a:solidFill>
                <a:srgbClr val="000000"/>
              </a:solidFill>
              <a:latin typeface="Glacial Indifference"/>
            </a:endParaRPr>
          </a:p>
          <a:p>
            <a:pPr algn="ctr">
              <a:lnSpc>
                <a:spcPts val="2571"/>
              </a:lnSpc>
              <a:spcBef>
                <a:spcPct val="0"/>
              </a:spcBef>
            </a:pPr>
            <a:endParaRPr lang="en-US" sz="1836" dirty="0">
              <a:solidFill>
                <a:srgbClr val="2D388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3066628" cy="10287000"/>
          </a:xfrm>
          <a:custGeom>
            <a:avLst/>
            <a:gdLst/>
            <a:ahLst/>
            <a:cxnLst/>
            <a:rect l="l" t="t" r="r" b="b"/>
            <a:pathLst>
              <a:path w="13066628" h="10287000">
                <a:moveTo>
                  <a:pt x="0" y="0"/>
                </a:moveTo>
                <a:lnTo>
                  <a:pt x="13066628" y="0"/>
                </a:lnTo>
                <a:lnTo>
                  <a:pt x="1306662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9441180" y="3991073"/>
            <a:ext cx="8115300" cy="206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10"/>
              </a:lnSpc>
            </a:pPr>
            <a:r>
              <a:rPr lang="en-US" sz="12007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441180" y="5991127"/>
            <a:ext cx="8115300" cy="1091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7"/>
              </a:lnSpc>
            </a:pPr>
            <a:r>
              <a:rPr lang="en-US" sz="3141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Questions &amp; Discussion</a:t>
            </a:r>
          </a:p>
          <a:p>
            <a:pPr marL="0" lvl="0" indent="0" algn="l">
              <a:lnSpc>
                <a:spcPts val="4397"/>
              </a:lnSpc>
              <a:spcBef>
                <a:spcPct val="0"/>
              </a:spcBef>
            </a:pPr>
            <a:endParaRPr lang="en-US" sz="3141" dirty="0">
              <a:solidFill>
                <a:srgbClr val="2D388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1404</Words>
  <Application>Microsoft Office PowerPoint</Application>
  <PresentationFormat>Custom</PresentationFormat>
  <Paragraphs>172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Cormorant Garamond</vt:lpstr>
      <vt:lpstr>Glacial Indifference Bold</vt:lpstr>
      <vt:lpstr>Glacial Indifference</vt:lpstr>
      <vt:lpstr>Calibri</vt:lpstr>
      <vt:lpstr>Cormorant Garamond Bold</vt:lpstr>
      <vt:lpstr>Arial</vt:lpstr>
      <vt:lpstr>Cormorant Garamond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Purple Simple Research Proposal Presentation</dc:title>
  <cp:lastModifiedBy>Anwesha Singh</cp:lastModifiedBy>
  <cp:revision>16</cp:revision>
  <dcterms:created xsi:type="dcterms:W3CDTF">2006-08-16T00:00:00Z</dcterms:created>
  <dcterms:modified xsi:type="dcterms:W3CDTF">2025-11-21T10:10:51Z</dcterms:modified>
  <dc:identifier>DAG1nMK1oJw</dc:identifier>
</cp:coreProperties>
</file>